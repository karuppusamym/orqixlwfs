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One deployable version, tagged r0-2026-10-26. The deck covers what it does, who uses it, how work migrates in from Pega and Camunda, how it is built, and one request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come from the delivery register and the last verification run on the merged release tree. They are local verification, not a production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Adapters and agent write tools deliver only to local stub transports. No live sends. Say that out loud if asked about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match the demo users. Separation of duties means a person who decided the first step cannot decide the second, and nobody approves their own migration review when that policy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exact about the Blueprint PDF: the sample is synthetic and the reader is generic. Compatibility with real Pega Blueprint PDFs is not claimed until a real sample is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replicas were tested behind a load balancer: correct, with no lost or duplicated work when one was killed. Throughput is database-bound and did not improve with a second replica on the test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the browser rehearsal ran against the final stack: upload, review, convert, publish, then 6,000 goes manager then finance and ends Approved, and a rejection ends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it is better than Pega or Camunda. It covers the SnapFlow feature set with stronger governance and security, and migrates Pega and Camunda definitions into a governed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22960" y="201168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Orqix workflow platform</a:t>
            </a:r>
            <a:endParaRPr lang="en-US" sz="5400" dirty="0"/>
          </a:p>
        </p:txBody>
      </p:sp>
      <p:sp>
        <p:nvSpPr>
          <p:cNvPr id="3" name="Text 1"/>
          <p:cNvSpPr txBox="1"/>
          <p:nvPr/>
        </p:nvSpPr>
        <p:spPr>
          <a:xfrm>
            <a:off x="822960" y="3200400"/>
            <a:ext cx="10515600" cy="82296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Governed human-approval workflows: design, migrate, run and operate</a:t>
            </a:r>
            <a:endParaRPr lang="en-US" sz="2200" dirty="0"/>
          </a:p>
        </p:txBody>
      </p:sp>
      <p:sp>
        <p:nvSpPr>
          <p:cNvPr id="4" name="Text 2"/>
          <p:cNvSpPr txBox="1"/>
          <p:nvPr/>
        </p:nvSpPr>
        <p:spPr>
          <a:xfrm>
            <a:off x="822960" y="4572000"/>
            <a:ext cx="10515600" cy="365760"/>
          </a:xfrm>
          <a:prstGeom prst="rect">
            <a:avLst/>
          </a:prstGeom>
          <a:noFill/>
          <a:ln/>
        </p:spPr>
        <p:txBody>
          <a:bodyPr wrap="square" lIns="0" tIns="0" rIns="0" bIns="0" rtlCol="0" anchor="ctr"/>
          <a:lstStyle/>
          <a:p>
            <a:pPr indent="0" marL="0">
              <a:buNone/>
            </a:pPr>
            <a:r>
              <a:rPr lang="en-US" sz="1600" dirty="0">
                <a:solidFill>
                  <a:srgbClr val="F2A541"/>
                </a:solidFill>
                <a:latin typeface="Calibri" pitchFamily="34" charset="0"/>
                <a:ea typeface="Calibri" pitchFamily="34" charset="-122"/>
                <a:cs typeface="Calibri" pitchFamily="34" charset="-120"/>
              </a:rPr>
              <a:t>Features  |  Personas  |  Migration  |  Architecture  |  Sequence</a:t>
            </a:r>
            <a:endParaRPr lang="en-US" sz="1600" dirty="0"/>
          </a:p>
        </p:txBody>
      </p:sp>
      <p:sp>
        <p:nvSpPr>
          <p:cNvPr id="5" name="Text 3"/>
          <p:cNvSpPr txBox="1"/>
          <p:nvPr/>
        </p:nvSpPr>
        <p:spPr>
          <a:xfrm>
            <a:off x="822960" y="5852160"/>
            <a:ext cx="10515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Release r0-2026-10-26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3400" b="1" dirty="0">
                <a:solidFill>
                  <a:srgbClr val="14213D"/>
                </a:solidFill>
                <a:latin typeface="Cambria" pitchFamily="34" charset="0"/>
                <a:ea typeface="Cambria" pitchFamily="34" charset="-122"/>
                <a:cs typeface="Cambria" pitchFamily="34" charset="-120"/>
              </a:rPr>
              <a:t>What it is</a:t>
            </a:r>
            <a:endParaRPr lang="en-US" sz="34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600" dirty="0">
                <a:solidFill>
                  <a:srgbClr val="5B6B7B"/>
                </a:solidFill>
                <a:latin typeface="Calibri" pitchFamily="34" charset="0"/>
                <a:ea typeface="Calibri" pitchFamily="34" charset="-122"/>
                <a:cs typeface="Calibri" pitchFamily="34" charset="-120"/>
              </a:rPr>
              <a:t>A workflow engine you can govern, audit and migrate into</a:t>
            </a:r>
            <a:endParaRPr lang="en-US" sz="1600" dirty="0"/>
          </a:p>
        </p:txBody>
      </p:sp>
      <p:sp>
        <p:nvSpPr>
          <p:cNvPr id="4" name="Text 2"/>
          <p:cNvSpPr txBox="1"/>
          <p:nvPr/>
        </p:nvSpPr>
        <p:spPr>
          <a:xfrm>
            <a:off x="548640" y="1645920"/>
            <a:ext cx="5486400" cy="2011680"/>
          </a:xfrm>
          <a:prstGeom prst="rect">
            <a:avLst/>
          </a:prstGeom>
          <a:noFill/>
          <a:ln/>
        </p:spPr>
        <p:txBody>
          <a:bodyPr wrap="square" lIns="0" tIns="0" rIns="0" bIns="0" rtlCol="0" anchor="t"/>
          <a:lstStyle/>
          <a:p>
            <a:pPr indent="0" marL="0">
              <a:buNone/>
            </a:pPr>
            <a:r>
              <a:rPr lang="en-US" sz="1800" dirty="0">
                <a:solidFill>
                  <a:srgbClr val="1B2A3A"/>
                </a:solidFill>
                <a:latin typeface="Calibri" pitchFamily="34" charset="0"/>
                <a:ea typeface="Calibri" pitchFamily="34" charset="-122"/>
                <a:cs typeface="Calibri" pitchFamily="34" charset="-120"/>
              </a:rPr>
              <a:t>Design a workflow or import one from Pega or Camunda, review it, publish it as an immutable release, run it, and operate it. Authorization, separation of duties and an audit trail are built into every step, not added around it.</a:t>
            </a:r>
            <a:endParaRPr lang="en-US" sz="1800" dirty="0"/>
          </a:p>
        </p:txBody>
      </p:sp>
      <p:sp>
        <p:nvSpPr>
          <p:cNvPr id="5" name="Text 3"/>
          <p:cNvSpPr txBox="1"/>
          <p:nvPr/>
        </p:nvSpPr>
        <p:spPr>
          <a:xfrm>
            <a:off x="548640" y="3566160"/>
            <a:ext cx="5486400" cy="14630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B2A3A"/>
                </a:solidFill>
                <a:latin typeface="Calibri" pitchFamily="34" charset="0"/>
                <a:ea typeface="Calibri" pitchFamily="34" charset="-122"/>
                <a:cs typeface="Calibri" pitchFamily="34" charset="-120"/>
              </a:rPr>
              <a:t>Built for deterministic, human-approval processes</a:t>
            </a:r>
            <a:endParaRPr lang="en-US" sz="1800" dirty="0"/>
          </a:p>
          <a:p>
            <a:pPr marL="342900" indent="-342900">
              <a:spcAft>
                <a:spcPts val="800"/>
              </a:spcAft>
              <a:buSzPct val="100000"/>
              <a:buChar char="•"/>
            </a:pPr>
            <a:r>
              <a:rPr lang="en-US" sz="1800" dirty="0">
                <a:solidFill>
                  <a:srgbClr val="1B2A3A"/>
                </a:solidFill>
                <a:latin typeface="Calibri" pitchFamily="34" charset="0"/>
                <a:ea typeface="Calibri" pitchFamily="34" charset="-122"/>
                <a:cs typeface="Calibri" pitchFamily="34" charset="-120"/>
              </a:rPr>
              <a:t>Imports definitions only; nothing is auto-published</a:t>
            </a:r>
            <a:endParaRPr lang="en-US" sz="1800" dirty="0"/>
          </a:p>
          <a:p>
            <a:pPr marL="342900" indent="-342900">
              <a:spcAft>
                <a:spcPts val="800"/>
              </a:spcAft>
              <a:buSzPct val="100000"/>
              <a:buChar char="•"/>
            </a:pPr>
            <a:r>
              <a:rPr lang="en-US" sz="1800" dirty="0">
                <a:solidFill>
                  <a:srgbClr val="1B2A3A"/>
                </a:solidFill>
                <a:latin typeface="Calibri" pitchFamily="34" charset="0"/>
                <a:ea typeface="Calibri" pitchFamily="34" charset="-122"/>
                <a:cs typeface="Calibri" pitchFamily="34" charset="-120"/>
              </a:rPr>
              <a:t>One image serves the UI and the API</a:t>
            </a:r>
            <a:endParaRPr lang="en-US" sz="1800" dirty="0"/>
          </a:p>
        </p:txBody>
      </p:sp>
      <p:sp>
        <p:nvSpPr>
          <p:cNvPr id="6" name="stat card 1"/>
          <p:cNvSpPr/>
          <p:nvPr/>
        </p:nvSpPr>
        <p:spPr>
          <a:xfrm>
            <a:off x="6675120" y="1645920"/>
            <a:ext cx="2468880" cy="1828800"/>
          </a:xfrm>
          <a:prstGeom prst="roundRect">
            <a:avLst>
              <a:gd name="adj" fmla="val 4000"/>
            </a:avLst>
          </a:prstGeom>
          <a:solidFill>
            <a:srgbClr val="EEF3F8"/>
          </a:solidFill>
          <a:ln w="12700">
            <a:solidFill>
              <a:srgbClr val="EEF3F8"/>
            </a:solidFill>
            <a:prstDash val="solid"/>
          </a:ln>
        </p:spPr>
      </p:sp>
      <p:sp>
        <p:nvSpPr>
          <p:cNvPr id="7" name="Text 5"/>
          <p:cNvSpPr txBox="1"/>
          <p:nvPr/>
        </p:nvSpPr>
        <p:spPr>
          <a:xfrm>
            <a:off x="6812280" y="1828800"/>
            <a:ext cx="2194560" cy="731520"/>
          </a:xfrm>
          <a:prstGeom prst="rect">
            <a:avLst/>
          </a:prstGeom>
          <a:noFill/>
          <a:ln/>
        </p:spPr>
        <p:txBody>
          <a:bodyPr wrap="square" lIns="0" tIns="0" rIns="0" bIns="0" rtlCol="0" anchor="ctr"/>
          <a:lstStyle/>
          <a:p>
            <a:pPr algn="l" indent="0" marL="0">
              <a:buNone/>
            </a:pPr>
            <a:r>
              <a:rPr lang="en-US" sz="3600" b="1" dirty="0">
                <a:solidFill>
                  <a:srgbClr val="0F7C8A"/>
                </a:solidFill>
                <a:latin typeface="Cambria" pitchFamily="34" charset="0"/>
                <a:ea typeface="Cambria" pitchFamily="34" charset="-122"/>
                <a:cs typeface="Cambria" pitchFamily="34" charset="-120"/>
              </a:rPr>
              <a:t>63 of 70</a:t>
            </a:r>
            <a:endParaRPr lang="en-US" sz="3600" dirty="0"/>
          </a:p>
        </p:txBody>
      </p:sp>
      <p:sp>
        <p:nvSpPr>
          <p:cNvPr id="8" name="Text 6"/>
          <p:cNvSpPr txBox="1"/>
          <p:nvPr/>
        </p:nvSpPr>
        <p:spPr>
          <a:xfrm>
            <a:off x="6812280" y="2606040"/>
            <a:ext cx="2194560" cy="73152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delivery tickets closed or verified locally</a:t>
            </a:r>
            <a:endParaRPr lang="en-US" sz="1400" dirty="0"/>
          </a:p>
        </p:txBody>
      </p:sp>
      <p:sp>
        <p:nvSpPr>
          <p:cNvPr id="9" name="stat card 2"/>
          <p:cNvSpPr/>
          <p:nvPr/>
        </p:nvSpPr>
        <p:spPr>
          <a:xfrm>
            <a:off x="9326880" y="1645920"/>
            <a:ext cx="2468880" cy="1828800"/>
          </a:xfrm>
          <a:prstGeom prst="roundRect">
            <a:avLst>
              <a:gd name="adj" fmla="val 4000"/>
            </a:avLst>
          </a:prstGeom>
          <a:solidFill>
            <a:srgbClr val="EEF3F8"/>
          </a:solidFill>
          <a:ln w="12700">
            <a:solidFill>
              <a:srgbClr val="EEF3F8"/>
            </a:solidFill>
            <a:prstDash val="solid"/>
          </a:ln>
        </p:spPr>
      </p:sp>
      <p:sp>
        <p:nvSpPr>
          <p:cNvPr id="10" name="Text 8"/>
          <p:cNvSpPr txBox="1"/>
          <p:nvPr/>
        </p:nvSpPr>
        <p:spPr>
          <a:xfrm>
            <a:off x="9464040" y="1828800"/>
            <a:ext cx="2194560" cy="731520"/>
          </a:xfrm>
          <a:prstGeom prst="rect">
            <a:avLst/>
          </a:prstGeom>
          <a:noFill/>
          <a:ln/>
        </p:spPr>
        <p:txBody>
          <a:bodyPr wrap="square" lIns="0" tIns="0" rIns="0" bIns="0" rtlCol="0" anchor="ctr"/>
          <a:lstStyle/>
          <a:p>
            <a:pPr algn="l" indent="0" marL="0">
              <a:buNone/>
            </a:pPr>
            <a:r>
              <a:rPr lang="en-US" sz="3600" b="1" dirty="0">
                <a:solidFill>
                  <a:srgbClr val="0F7C8A"/>
                </a:solidFill>
                <a:latin typeface="Cambria" pitchFamily="34" charset="0"/>
                <a:ea typeface="Cambria" pitchFamily="34" charset="-122"/>
                <a:cs typeface="Cambria" pitchFamily="34" charset="-120"/>
              </a:rPr>
              <a:t>1,073</a:t>
            </a:r>
            <a:endParaRPr lang="en-US" sz="3600" dirty="0"/>
          </a:p>
        </p:txBody>
      </p:sp>
      <p:sp>
        <p:nvSpPr>
          <p:cNvPr id="11" name="Text 9"/>
          <p:cNvSpPr txBox="1"/>
          <p:nvPr/>
        </p:nvSpPr>
        <p:spPr>
          <a:xfrm>
            <a:off x="9464040" y="2606040"/>
            <a:ext cx="2194560" cy="73152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frontend tests; backend suite green</a:t>
            </a:r>
            <a:endParaRPr lang="en-US" sz="1400" dirty="0"/>
          </a:p>
        </p:txBody>
      </p:sp>
      <p:sp>
        <p:nvSpPr>
          <p:cNvPr id="12" name="stat card 3"/>
          <p:cNvSpPr/>
          <p:nvPr/>
        </p:nvSpPr>
        <p:spPr>
          <a:xfrm>
            <a:off x="6675120" y="3749040"/>
            <a:ext cx="2468880" cy="1828800"/>
          </a:xfrm>
          <a:prstGeom prst="roundRect">
            <a:avLst>
              <a:gd name="adj" fmla="val 4000"/>
            </a:avLst>
          </a:prstGeom>
          <a:solidFill>
            <a:srgbClr val="EEF3F8"/>
          </a:solidFill>
          <a:ln w="12700">
            <a:solidFill>
              <a:srgbClr val="EEF3F8"/>
            </a:solidFill>
            <a:prstDash val="solid"/>
          </a:ln>
        </p:spPr>
      </p:sp>
      <p:sp>
        <p:nvSpPr>
          <p:cNvPr id="13" name="Text 11"/>
          <p:cNvSpPr txBox="1"/>
          <p:nvPr/>
        </p:nvSpPr>
        <p:spPr>
          <a:xfrm>
            <a:off x="6812280" y="3931920"/>
            <a:ext cx="2194560" cy="731520"/>
          </a:xfrm>
          <a:prstGeom prst="rect">
            <a:avLst/>
          </a:prstGeom>
          <a:noFill/>
          <a:ln/>
        </p:spPr>
        <p:txBody>
          <a:bodyPr wrap="square" lIns="0" tIns="0" rIns="0" bIns="0" rtlCol="0" anchor="ctr"/>
          <a:lstStyle/>
          <a:p>
            <a:pPr algn="l" indent="0" marL="0">
              <a:buNone/>
            </a:pPr>
            <a:r>
              <a:rPr lang="en-US" sz="3600" b="1" dirty="0">
                <a:solidFill>
                  <a:srgbClr val="0F7C8A"/>
                </a:solidFill>
                <a:latin typeface="Cambria" pitchFamily="34" charset="0"/>
                <a:ea typeface="Cambria" pitchFamily="34" charset="-122"/>
                <a:cs typeface="Cambria" pitchFamily="34" charset="-120"/>
              </a:rPr>
              <a:t>88</a:t>
            </a:r>
            <a:endParaRPr lang="en-US" sz="3600" dirty="0"/>
          </a:p>
        </p:txBody>
      </p:sp>
      <p:sp>
        <p:nvSpPr>
          <p:cNvPr id="14" name="Text 12"/>
          <p:cNvSpPr txBox="1"/>
          <p:nvPr/>
        </p:nvSpPr>
        <p:spPr>
          <a:xfrm>
            <a:off x="6812280" y="4709160"/>
            <a:ext cx="2194560" cy="73152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contract checks on the API and permissions</a:t>
            </a:r>
            <a:endParaRPr lang="en-US" sz="1400" dirty="0"/>
          </a:p>
        </p:txBody>
      </p:sp>
      <p:sp>
        <p:nvSpPr>
          <p:cNvPr id="15" name="stat card 4"/>
          <p:cNvSpPr/>
          <p:nvPr/>
        </p:nvSpPr>
        <p:spPr>
          <a:xfrm>
            <a:off x="9326880" y="3749040"/>
            <a:ext cx="2468880" cy="1828800"/>
          </a:xfrm>
          <a:prstGeom prst="roundRect">
            <a:avLst>
              <a:gd name="adj" fmla="val 4000"/>
            </a:avLst>
          </a:prstGeom>
          <a:solidFill>
            <a:srgbClr val="EEF3F8"/>
          </a:solidFill>
          <a:ln w="12700">
            <a:solidFill>
              <a:srgbClr val="EEF3F8"/>
            </a:solidFill>
            <a:prstDash val="solid"/>
          </a:ln>
        </p:spPr>
      </p:sp>
      <p:sp>
        <p:nvSpPr>
          <p:cNvPr id="16" name="Text 14"/>
          <p:cNvSpPr txBox="1"/>
          <p:nvPr/>
        </p:nvSpPr>
        <p:spPr>
          <a:xfrm>
            <a:off x="9464040" y="3931920"/>
            <a:ext cx="2194560" cy="731520"/>
          </a:xfrm>
          <a:prstGeom prst="rect">
            <a:avLst/>
          </a:prstGeom>
          <a:noFill/>
          <a:ln/>
        </p:spPr>
        <p:txBody>
          <a:bodyPr wrap="square" lIns="0" tIns="0" rIns="0" bIns="0" rtlCol="0" anchor="ctr"/>
          <a:lstStyle/>
          <a:p>
            <a:pPr algn="l" indent="0" marL="0">
              <a:buNone/>
            </a:pPr>
            <a:r>
              <a:rPr lang="en-US" sz="3600" b="1" dirty="0">
                <a:solidFill>
                  <a:srgbClr val="0F7C8A"/>
                </a:solidFill>
                <a:latin typeface="Cambria" pitchFamily="34" charset="0"/>
                <a:ea typeface="Cambria" pitchFamily="34" charset="-122"/>
                <a:cs typeface="Cambria" pitchFamily="34" charset="-120"/>
              </a:rPr>
              <a:t>V155</a:t>
            </a:r>
            <a:endParaRPr lang="en-US" sz="3600" dirty="0"/>
          </a:p>
        </p:txBody>
      </p:sp>
      <p:sp>
        <p:nvSpPr>
          <p:cNvPr id="17" name="Text 15"/>
          <p:cNvSpPr txBox="1"/>
          <p:nvPr/>
        </p:nvSpPr>
        <p:spPr>
          <a:xfrm>
            <a:off x="9464040" y="4709160"/>
            <a:ext cx="2194560" cy="73152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schema migrations, forward only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3400" b="1" dirty="0">
                <a:solidFill>
                  <a:srgbClr val="14213D"/>
                </a:solidFill>
                <a:latin typeface="Cambria" pitchFamily="34" charset="0"/>
                <a:ea typeface="Cambria" pitchFamily="34" charset="-122"/>
                <a:cs typeface="Cambria" pitchFamily="34" charset="-120"/>
              </a:rPr>
              <a:t>Features</a:t>
            </a:r>
            <a:endParaRPr lang="en-US" sz="34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600" dirty="0">
                <a:solidFill>
                  <a:srgbClr val="5B6B7B"/>
                </a:solidFill>
                <a:latin typeface="Calibri" pitchFamily="34" charset="0"/>
                <a:ea typeface="Calibri" pitchFamily="34" charset="-122"/>
                <a:cs typeface="Calibri" pitchFamily="34" charset="-120"/>
              </a:rPr>
              <a:t>What is built and verified locally</a:t>
            </a:r>
            <a:endParaRPr lang="en-US" sz="1600" dirty="0"/>
          </a:p>
        </p:txBody>
      </p:sp>
      <p:sp>
        <p:nvSpPr>
          <p:cNvPr id="4" name="feature card Authoring"/>
          <p:cNvSpPr/>
          <p:nvPr/>
        </p:nvSpPr>
        <p:spPr>
          <a:xfrm>
            <a:off x="548640" y="1554480"/>
            <a:ext cx="3566160" cy="2377440"/>
          </a:xfrm>
          <a:prstGeom prst="roundRect">
            <a:avLst>
              <a:gd name="adj" fmla="val 3077"/>
            </a:avLst>
          </a:prstGeom>
          <a:solidFill>
            <a:srgbClr val="EEF3F8"/>
          </a:solidFill>
          <a:ln w="12700">
            <a:solidFill>
              <a:srgbClr val="EEF3F8"/>
            </a:solidFill>
            <a:prstDash val="solid"/>
          </a:ln>
        </p:spPr>
      </p:sp>
      <p:sp>
        <p:nvSpPr>
          <p:cNvPr id="5" name="Text 3"/>
          <p:cNvSpPr txBox="1"/>
          <p:nvPr/>
        </p:nvSpPr>
        <p:spPr>
          <a:xfrm>
            <a:off x="731520" y="1664208"/>
            <a:ext cx="3200400" cy="411480"/>
          </a:xfrm>
          <a:prstGeom prst="rect">
            <a:avLst/>
          </a:prstGeom>
          <a:noFill/>
          <a:ln/>
        </p:spPr>
        <p:txBody>
          <a:bodyPr wrap="square" lIns="0" tIns="0" rIns="0" bIns="0" rtlCol="0" anchor="ctr"/>
          <a:lstStyle/>
          <a:p>
            <a:pPr indent="0" marL="0">
              <a:buNone/>
            </a:pPr>
            <a:r>
              <a:rPr lang="en-US" sz="1800" b="1" dirty="0">
                <a:solidFill>
                  <a:srgbClr val="0F7C8A"/>
                </a:solidFill>
                <a:latin typeface="Cambria" pitchFamily="34" charset="0"/>
                <a:ea typeface="Cambria" pitchFamily="34" charset="-122"/>
                <a:cs typeface="Cambria" pitchFamily="34" charset="-120"/>
              </a:rPr>
              <a:t>Authoring</a:t>
            </a:r>
            <a:endParaRPr lang="en-US" sz="1800" dirty="0"/>
          </a:p>
        </p:txBody>
      </p:sp>
      <p:sp>
        <p:nvSpPr>
          <p:cNvPr id="6" name="Text 4"/>
          <p:cNvSpPr txBox="1"/>
          <p:nvPr/>
        </p:nvSpPr>
        <p:spPr>
          <a:xfrm>
            <a:off x="731520" y="2121408"/>
            <a:ext cx="32461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Studio canvas, YAML and BPMN source</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Lanes and discussion with @mentions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Decision tables with CSV import and export</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Forms with validation and AI help</a:t>
            </a:r>
            <a:endParaRPr lang="en-US" sz="1400" dirty="0"/>
          </a:p>
        </p:txBody>
      </p:sp>
      <p:sp>
        <p:nvSpPr>
          <p:cNvPr id="7" name="feature card Runtime"/>
          <p:cNvSpPr/>
          <p:nvPr/>
        </p:nvSpPr>
        <p:spPr>
          <a:xfrm>
            <a:off x="4297680" y="1554480"/>
            <a:ext cx="3566160" cy="2377440"/>
          </a:xfrm>
          <a:prstGeom prst="roundRect">
            <a:avLst>
              <a:gd name="adj" fmla="val 3077"/>
            </a:avLst>
          </a:prstGeom>
          <a:solidFill>
            <a:srgbClr val="EEF3F8"/>
          </a:solidFill>
          <a:ln w="12700">
            <a:solidFill>
              <a:srgbClr val="EEF3F8"/>
            </a:solidFill>
            <a:prstDash val="solid"/>
          </a:ln>
        </p:spPr>
      </p:sp>
      <p:sp>
        <p:nvSpPr>
          <p:cNvPr id="8" name="Text 6"/>
          <p:cNvSpPr txBox="1"/>
          <p:nvPr/>
        </p:nvSpPr>
        <p:spPr>
          <a:xfrm>
            <a:off x="4480560" y="1664208"/>
            <a:ext cx="3200400" cy="411480"/>
          </a:xfrm>
          <a:prstGeom prst="rect">
            <a:avLst/>
          </a:prstGeom>
          <a:noFill/>
          <a:ln/>
        </p:spPr>
        <p:txBody>
          <a:bodyPr wrap="square" lIns="0" tIns="0" rIns="0" bIns="0" rtlCol="0" anchor="ctr"/>
          <a:lstStyle/>
          <a:p>
            <a:pPr indent="0" marL="0">
              <a:buNone/>
            </a:pPr>
            <a:r>
              <a:rPr lang="en-US" sz="1800" b="1" dirty="0">
                <a:solidFill>
                  <a:srgbClr val="0F7C8A"/>
                </a:solidFill>
                <a:latin typeface="Cambria" pitchFamily="34" charset="0"/>
                <a:ea typeface="Cambria" pitchFamily="34" charset="-122"/>
                <a:cs typeface="Cambria" pitchFamily="34" charset="-120"/>
              </a:rPr>
              <a:t>Runtime</a:t>
            </a:r>
            <a:endParaRPr lang="en-US" sz="1800" dirty="0"/>
          </a:p>
        </p:txBody>
      </p:sp>
      <p:sp>
        <p:nvSpPr>
          <p:cNvPr id="9" name="Text 7"/>
          <p:cNvSpPr txBox="1"/>
          <p:nvPr/>
        </p:nvSpPr>
        <p:spPr>
          <a:xfrm>
            <a:off x="4480560" y="2121408"/>
            <a:ext cx="32461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Approvals, several approvers, per-item approvals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Sections, errors, signals and automatic undo</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SLAs, calendars, dispatch and reminders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Repair and a consistency scan for operators</a:t>
            </a:r>
            <a:endParaRPr lang="en-US" sz="1400" dirty="0"/>
          </a:p>
        </p:txBody>
      </p:sp>
      <p:sp>
        <p:nvSpPr>
          <p:cNvPr id="10" name="feature card Governance"/>
          <p:cNvSpPr/>
          <p:nvPr/>
        </p:nvSpPr>
        <p:spPr>
          <a:xfrm>
            <a:off x="8046720" y="1554480"/>
            <a:ext cx="3566160" cy="2377440"/>
          </a:xfrm>
          <a:prstGeom prst="roundRect">
            <a:avLst>
              <a:gd name="adj" fmla="val 3077"/>
            </a:avLst>
          </a:prstGeom>
          <a:solidFill>
            <a:srgbClr val="EEF3F8"/>
          </a:solidFill>
          <a:ln w="12700">
            <a:solidFill>
              <a:srgbClr val="EEF3F8"/>
            </a:solidFill>
            <a:prstDash val="solid"/>
          </a:ln>
        </p:spPr>
      </p:sp>
      <p:sp>
        <p:nvSpPr>
          <p:cNvPr id="11" name="Text 9"/>
          <p:cNvSpPr txBox="1"/>
          <p:nvPr/>
        </p:nvSpPr>
        <p:spPr>
          <a:xfrm>
            <a:off x="8229600" y="1664208"/>
            <a:ext cx="3200400" cy="411480"/>
          </a:xfrm>
          <a:prstGeom prst="rect">
            <a:avLst/>
          </a:prstGeom>
          <a:noFill/>
          <a:ln/>
        </p:spPr>
        <p:txBody>
          <a:bodyPr wrap="square" lIns="0" tIns="0" rIns="0" bIns="0" rtlCol="0" anchor="ctr"/>
          <a:lstStyle/>
          <a:p>
            <a:pPr indent="0" marL="0">
              <a:buNone/>
            </a:pPr>
            <a:r>
              <a:rPr lang="en-US" sz="1800" b="1" dirty="0">
                <a:solidFill>
                  <a:srgbClr val="0F7C8A"/>
                </a:solidFill>
                <a:latin typeface="Cambria" pitchFamily="34" charset="0"/>
                <a:ea typeface="Cambria" pitchFamily="34" charset="-122"/>
                <a:cs typeface="Cambria" pitchFamily="34" charset="-120"/>
              </a:rPr>
              <a:t>Governance</a:t>
            </a:r>
            <a:endParaRPr lang="en-US" sz="1800" dirty="0"/>
          </a:p>
        </p:txBody>
      </p:sp>
      <p:sp>
        <p:nvSpPr>
          <p:cNvPr id="12" name="Text 10"/>
          <p:cNvSpPr txBox="1"/>
          <p:nvPr/>
        </p:nvSpPr>
        <p:spPr>
          <a:xfrm>
            <a:off x="8229600" y="2121408"/>
            <a:ext cx="32461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Roles, grant-only permissions, separation of duties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Append-only audit and per-request timeline</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Release promotion with a production approval gate</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Canary rollout and pinned rollback</a:t>
            </a:r>
            <a:endParaRPr lang="en-US" sz="1400" dirty="0"/>
          </a:p>
        </p:txBody>
      </p:sp>
      <p:sp>
        <p:nvSpPr>
          <p:cNvPr id="13" name="feature card Integrations"/>
          <p:cNvSpPr/>
          <p:nvPr/>
        </p:nvSpPr>
        <p:spPr>
          <a:xfrm>
            <a:off x="548640" y="4114800"/>
            <a:ext cx="3566160" cy="2377440"/>
          </a:xfrm>
          <a:prstGeom prst="roundRect">
            <a:avLst>
              <a:gd name="adj" fmla="val 3077"/>
            </a:avLst>
          </a:prstGeom>
          <a:solidFill>
            <a:srgbClr val="EEF3F8"/>
          </a:solidFill>
          <a:ln w="12700">
            <a:solidFill>
              <a:srgbClr val="EEF3F8"/>
            </a:solidFill>
            <a:prstDash val="solid"/>
          </a:ln>
        </p:spPr>
      </p:sp>
      <p:sp>
        <p:nvSpPr>
          <p:cNvPr id="14" name="Text 12"/>
          <p:cNvSpPr txBox="1"/>
          <p:nvPr/>
        </p:nvSpPr>
        <p:spPr>
          <a:xfrm>
            <a:off x="731520" y="4224528"/>
            <a:ext cx="3200400" cy="411480"/>
          </a:xfrm>
          <a:prstGeom prst="rect">
            <a:avLst/>
          </a:prstGeom>
          <a:noFill/>
          <a:ln/>
        </p:spPr>
        <p:txBody>
          <a:bodyPr wrap="square" lIns="0" tIns="0" rIns="0" bIns="0" rtlCol="0" anchor="ctr"/>
          <a:lstStyle/>
          <a:p>
            <a:pPr indent="0" marL="0">
              <a:buNone/>
            </a:pPr>
            <a:r>
              <a:rPr lang="en-US" sz="1800" b="1" dirty="0">
                <a:solidFill>
                  <a:srgbClr val="0F7C8A"/>
                </a:solidFill>
                <a:latin typeface="Cambria" pitchFamily="34" charset="0"/>
                <a:ea typeface="Cambria" pitchFamily="34" charset="-122"/>
                <a:cs typeface="Cambria" pitchFamily="34" charset="-120"/>
              </a:rPr>
              <a:t>Integrations</a:t>
            </a:r>
            <a:endParaRPr lang="en-US" sz="1800" dirty="0"/>
          </a:p>
        </p:txBody>
      </p:sp>
      <p:sp>
        <p:nvSpPr>
          <p:cNvPr id="15" name="Text 13"/>
          <p:cNvSpPr txBox="1"/>
          <p:nvPr/>
        </p:nvSpPr>
        <p:spPr>
          <a:xfrm>
            <a:off x="731520" y="4681728"/>
            <a:ext cx="32461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Email, Teams, Kafka and JDBC adapters (stubs)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Approved agent write tools, journaled effects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MCP, A2A and external workers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Signed inbound triggers</a:t>
            </a:r>
            <a:endParaRPr lang="en-US" sz="1400" dirty="0"/>
          </a:p>
        </p:txBody>
      </p:sp>
      <p:sp>
        <p:nvSpPr>
          <p:cNvPr id="16" name="feature card Migration"/>
          <p:cNvSpPr/>
          <p:nvPr/>
        </p:nvSpPr>
        <p:spPr>
          <a:xfrm>
            <a:off x="4297680" y="4114800"/>
            <a:ext cx="3566160" cy="2377440"/>
          </a:xfrm>
          <a:prstGeom prst="roundRect">
            <a:avLst>
              <a:gd name="adj" fmla="val 3077"/>
            </a:avLst>
          </a:prstGeom>
          <a:solidFill>
            <a:srgbClr val="EEF3F8"/>
          </a:solidFill>
          <a:ln w="12700">
            <a:solidFill>
              <a:srgbClr val="EEF3F8"/>
            </a:solidFill>
            <a:prstDash val="solid"/>
          </a:ln>
        </p:spPr>
      </p:sp>
      <p:sp>
        <p:nvSpPr>
          <p:cNvPr id="17" name="Text 15"/>
          <p:cNvSpPr txBox="1"/>
          <p:nvPr/>
        </p:nvSpPr>
        <p:spPr>
          <a:xfrm>
            <a:off x="4480560" y="4224528"/>
            <a:ext cx="3200400" cy="411480"/>
          </a:xfrm>
          <a:prstGeom prst="rect">
            <a:avLst/>
          </a:prstGeom>
          <a:noFill/>
          <a:ln/>
        </p:spPr>
        <p:txBody>
          <a:bodyPr wrap="square" lIns="0" tIns="0" rIns="0" bIns="0" rtlCol="0" anchor="ctr"/>
          <a:lstStyle/>
          <a:p>
            <a:pPr indent="0" marL="0">
              <a:buNone/>
            </a:pPr>
            <a:r>
              <a:rPr lang="en-US" sz="1800" b="1" dirty="0">
                <a:solidFill>
                  <a:srgbClr val="0F7C8A"/>
                </a:solidFill>
                <a:latin typeface="Cambria" pitchFamily="34" charset="0"/>
                <a:ea typeface="Cambria" pitchFamily="34" charset="-122"/>
                <a:cs typeface="Cambria" pitchFamily="34" charset="-120"/>
              </a:rPr>
              <a:t>Migration</a:t>
            </a:r>
            <a:endParaRPr lang="en-US" sz="1800" dirty="0"/>
          </a:p>
        </p:txBody>
      </p:sp>
      <p:sp>
        <p:nvSpPr>
          <p:cNvPr id="18" name="Text 16"/>
          <p:cNvSpPr txBox="1"/>
          <p:nvPr/>
        </p:nvSpPr>
        <p:spPr>
          <a:xfrm>
            <a:off x="4480560" y="4681728"/>
            <a:ext cx="32461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Camunda 7 and 8 BPMN and DMN</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Pega XPDL, archives, decision snapshots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Pega Blueprint PDF (synthetic sample)</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Every element mapped, resolved or excluded</a:t>
            </a:r>
            <a:endParaRPr lang="en-US" sz="1400" dirty="0"/>
          </a:p>
        </p:txBody>
      </p:sp>
      <p:sp>
        <p:nvSpPr>
          <p:cNvPr id="19" name="feature card Quality"/>
          <p:cNvSpPr/>
          <p:nvPr/>
        </p:nvSpPr>
        <p:spPr>
          <a:xfrm>
            <a:off x="8046720" y="4114800"/>
            <a:ext cx="3566160" cy="2377440"/>
          </a:xfrm>
          <a:prstGeom prst="roundRect">
            <a:avLst>
              <a:gd name="adj" fmla="val 3077"/>
            </a:avLst>
          </a:prstGeom>
          <a:solidFill>
            <a:srgbClr val="EEF3F8"/>
          </a:solidFill>
          <a:ln w="12700">
            <a:solidFill>
              <a:srgbClr val="EEF3F8"/>
            </a:solidFill>
            <a:prstDash val="solid"/>
          </a:ln>
        </p:spPr>
      </p:sp>
      <p:sp>
        <p:nvSpPr>
          <p:cNvPr id="20" name="Text 18"/>
          <p:cNvSpPr txBox="1"/>
          <p:nvPr/>
        </p:nvSpPr>
        <p:spPr>
          <a:xfrm>
            <a:off x="8229600" y="4224528"/>
            <a:ext cx="3200400" cy="411480"/>
          </a:xfrm>
          <a:prstGeom prst="rect">
            <a:avLst/>
          </a:prstGeom>
          <a:noFill/>
          <a:ln/>
        </p:spPr>
        <p:txBody>
          <a:bodyPr wrap="square" lIns="0" tIns="0" rIns="0" bIns="0" rtlCol="0" anchor="ctr"/>
          <a:lstStyle/>
          <a:p>
            <a:pPr indent="0" marL="0">
              <a:buNone/>
            </a:pPr>
            <a:r>
              <a:rPr lang="en-US" sz="1800" b="1" dirty="0">
                <a:solidFill>
                  <a:srgbClr val="0F7C8A"/>
                </a:solidFill>
                <a:latin typeface="Cambria" pitchFamily="34" charset="0"/>
                <a:ea typeface="Cambria" pitchFamily="34" charset="-122"/>
                <a:cs typeface="Cambria" pitchFamily="34" charset="-120"/>
              </a:rPr>
              <a:t>Quality</a:t>
            </a:r>
            <a:endParaRPr lang="en-US" sz="1800" dirty="0"/>
          </a:p>
        </p:txBody>
      </p:sp>
      <p:sp>
        <p:nvSpPr>
          <p:cNvPr id="21" name="Text 19"/>
          <p:cNvSpPr txBox="1"/>
          <p:nvPr/>
        </p:nvSpPr>
        <p:spPr>
          <a:xfrm>
            <a:off x="8229600" y="4681728"/>
            <a:ext cx="32461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Real-browser journeys with accessibility checks</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Two-replica failover test, no lost work</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One deployable image, Compose and OpenShift</a:t>
            </a:r>
            <a:endParaRPr lang="en-US" sz="1400" dirty="0"/>
          </a:p>
          <a:p>
            <a:pPr marL="342900" indent="-3429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Documented limits, not hidden ones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3400" b="1" dirty="0">
                <a:solidFill>
                  <a:srgbClr val="14213D"/>
                </a:solidFill>
                <a:latin typeface="Cambria" pitchFamily="34" charset="0"/>
                <a:ea typeface="Cambria" pitchFamily="34" charset="-122"/>
                <a:cs typeface="Cambria" pitchFamily="34" charset="-120"/>
              </a:rPr>
              <a:t>Personas</a:t>
            </a:r>
            <a:endParaRPr lang="en-US" sz="34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600" dirty="0">
                <a:solidFill>
                  <a:srgbClr val="5B6B7B"/>
                </a:solidFill>
                <a:latin typeface="Calibri" pitchFamily="34" charset="0"/>
                <a:ea typeface="Calibri" pitchFamily="34" charset="-122"/>
                <a:cs typeface="Calibri" pitchFamily="34" charset="-120"/>
              </a:rPr>
              <a:t>Who uses it, and what each can do</a:t>
            </a:r>
            <a:endParaRPr lang="en-US" sz="1600" dirty="0"/>
          </a:p>
        </p:txBody>
      </p:sp>
      <p:sp>
        <p:nvSpPr>
          <p:cNvPr id="4" name="persona card Dana"/>
          <p:cNvSpPr/>
          <p:nvPr/>
        </p:nvSpPr>
        <p:spPr>
          <a:xfrm>
            <a:off x="548640" y="1645920"/>
            <a:ext cx="2651760" cy="2011680"/>
          </a:xfrm>
          <a:prstGeom prst="roundRect">
            <a:avLst>
              <a:gd name="adj" fmla="val 3636"/>
            </a:avLst>
          </a:prstGeom>
          <a:solidFill>
            <a:srgbClr val="EEF3F8"/>
          </a:solidFill>
          <a:ln w="12700">
            <a:solidFill>
              <a:srgbClr val="EEF3F8"/>
            </a:solidFill>
            <a:prstDash val="solid"/>
          </a:ln>
        </p:spPr>
      </p:sp>
      <p:sp>
        <p:nvSpPr>
          <p:cNvPr id="5" name="avatar Dana"/>
          <p:cNvSpPr/>
          <p:nvPr/>
        </p:nvSpPr>
        <p:spPr>
          <a:xfrm>
            <a:off x="731520" y="1828800"/>
            <a:ext cx="640080" cy="640080"/>
          </a:xfrm>
          <a:prstGeom prst="ellipse">
            <a:avLst/>
          </a:prstGeom>
          <a:solidFill>
            <a:srgbClr val="0F7C8A"/>
          </a:solidFill>
          <a:ln w="12700">
            <a:solidFill>
              <a:srgbClr val="0F7C8A"/>
            </a:solidFill>
            <a:prstDash val="solid"/>
          </a:ln>
        </p:spPr>
      </p:sp>
      <p:sp>
        <p:nvSpPr>
          <p:cNvPr id="6" name="Text 4"/>
          <p:cNvSpPr txBox="1"/>
          <p:nvPr/>
        </p:nvSpPr>
        <p:spPr>
          <a:xfrm>
            <a:off x="731520"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7" name="Text 5"/>
          <p:cNvSpPr txBox="1"/>
          <p:nvPr/>
        </p:nvSpPr>
        <p:spPr>
          <a:xfrm>
            <a:off x="1508760" y="182880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Dana</a:t>
            </a:r>
            <a:endParaRPr lang="en-US" sz="1600" dirty="0"/>
          </a:p>
        </p:txBody>
      </p:sp>
      <p:sp>
        <p:nvSpPr>
          <p:cNvPr id="8" name="Text 6"/>
          <p:cNvSpPr txBox="1"/>
          <p:nvPr/>
        </p:nvSpPr>
        <p:spPr>
          <a:xfrm>
            <a:off x="1508760" y="214884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Designer</a:t>
            </a:r>
            <a:endParaRPr lang="en-US" sz="1400" dirty="0"/>
          </a:p>
        </p:txBody>
      </p:sp>
      <p:sp>
        <p:nvSpPr>
          <p:cNvPr id="9" name="Text 7"/>
          <p:cNvSpPr txBox="1"/>
          <p:nvPr/>
        </p:nvSpPr>
        <p:spPr>
          <a:xfrm>
            <a:off x="731520" y="269748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Builds and imports workflows in the Studio</a:t>
            </a:r>
            <a:endParaRPr lang="en-US" sz="1400" dirty="0"/>
          </a:p>
        </p:txBody>
      </p:sp>
      <p:sp>
        <p:nvSpPr>
          <p:cNvPr id="10" name="persona card Paul"/>
          <p:cNvSpPr/>
          <p:nvPr/>
        </p:nvSpPr>
        <p:spPr>
          <a:xfrm>
            <a:off x="3355848" y="1645920"/>
            <a:ext cx="2651760" cy="2011680"/>
          </a:xfrm>
          <a:prstGeom prst="roundRect">
            <a:avLst>
              <a:gd name="adj" fmla="val 3636"/>
            </a:avLst>
          </a:prstGeom>
          <a:solidFill>
            <a:srgbClr val="EEF3F8"/>
          </a:solidFill>
          <a:ln w="12700">
            <a:solidFill>
              <a:srgbClr val="EEF3F8"/>
            </a:solidFill>
            <a:prstDash val="solid"/>
          </a:ln>
        </p:spPr>
      </p:sp>
      <p:sp>
        <p:nvSpPr>
          <p:cNvPr id="11" name="avatar Paul"/>
          <p:cNvSpPr/>
          <p:nvPr/>
        </p:nvSpPr>
        <p:spPr>
          <a:xfrm>
            <a:off x="3538728" y="1828800"/>
            <a:ext cx="640080" cy="640080"/>
          </a:xfrm>
          <a:prstGeom prst="ellipse">
            <a:avLst/>
          </a:prstGeom>
          <a:solidFill>
            <a:srgbClr val="14213D"/>
          </a:solidFill>
          <a:ln w="12700">
            <a:solidFill>
              <a:srgbClr val="14213D"/>
            </a:solidFill>
            <a:prstDash val="solid"/>
          </a:ln>
        </p:spPr>
      </p:sp>
      <p:sp>
        <p:nvSpPr>
          <p:cNvPr id="12" name="Text 10"/>
          <p:cNvSpPr txBox="1"/>
          <p:nvPr/>
        </p:nvSpPr>
        <p:spPr>
          <a:xfrm>
            <a:off x="3538728"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a:t>
            </a:r>
            <a:endParaRPr lang="en-US" sz="2200" dirty="0"/>
          </a:p>
        </p:txBody>
      </p:sp>
      <p:sp>
        <p:nvSpPr>
          <p:cNvPr id="13" name="Text 11"/>
          <p:cNvSpPr txBox="1"/>
          <p:nvPr/>
        </p:nvSpPr>
        <p:spPr>
          <a:xfrm>
            <a:off x="4315968" y="182880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Paul</a:t>
            </a:r>
            <a:endParaRPr lang="en-US" sz="1600" dirty="0"/>
          </a:p>
        </p:txBody>
      </p:sp>
      <p:sp>
        <p:nvSpPr>
          <p:cNvPr id="14" name="Text 12"/>
          <p:cNvSpPr txBox="1"/>
          <p:nvPr/>
        </p:nvSpPr>
        <p:spPr>
          <a:xfrm>
            <a:off x="4315968" y="214884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Publisher</a:t>
            </a:r>
            <a:endParaRPr lang="en-US" sz="1400" dirty="0"/>
          </a:p>
        </p:txBody>
      </p:sp>
      <p:sp>
        <p:nvSpPr>
          <p:cNvPr id="15" name="Text 13"/>
          <p:cNvSpPr txBox="1"/>
          <p:nvPr/>
        </p:nvSpPr>
        <p:spPr>
          <a:xfrm>
            <a:off x="3538728" y="269748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Reviews, publishes and promotes releases</a:t>
            </a:r>
            <a:endParaRPr lang="en-US" sz="1400" dirty="0"/>
          </a:p>
        </p:txBody>
      </p:sp>
      <p:sp>
        <p:nvSpPr>
          <p:cNvPr id="16" name="persona card Rhea"/>
          <p:cNvSpPr/>
          <p:nvPr/>
        </p:nvSpPr>
        <p:spPr>
          <a:xfrm>
            <a:off x="6163056" y="1645920"/>
            <a:ext cx="2651760" cy="2011680"/>
          </a:xfrm>
          <a:prstGeom prst="roundRect">
            <a:avLst>
              <a:gd name="adj" fmla="val 3636"/>
            </a:avLst>
          </a:prstGeom>
          <a:solidFill>
            <a:srgbClr val="EEF3F8"/>
          </a:solidFill>
          <a:ln w="12700">
            <a:solidFill>
              <a:srgbClr val="EEF3F8"/>
            </a:solidFill>
            <a:prstDash val="solid"/>
          </a:ln>
        </p:spPr>
      </p:sp>
      <p:sp>
        <p:nvSpPr>
          <p:cNvPr id="17" name="avatar Rhea"/>
          <p:cNvSpPr/>
          <p:nvPr/>
        </p:nvSpPr>
        <p:spPr>
          <a:xfrm>
            <a:off x="6345936" y="1828800"/>
            <a:ext cx="640080" cy="640080"/>
          </a:xfrm>
          <a:prstGeom prst="ellipse">
            <a:avLst/>
          </a:prstGeom>
          <a:solidFill>
            <a:srgbClr val="F2A541"/>
          </a:solidFill>
          <a:ln w="12700">
            <a:solidFill>
              <a:srgbClr val="F2A541"/>
            </a:solidFill>
            <a:prstDash val="solid"/>
          </a:ln>
        </p:spPr>
      </p:sp>
      <p:sp>
        <p:nvSpPr>
          <p:cNvPr id="18" name="Text 16"/>
          <p:cNvSpPr txBox="1"/>
          <p:nvPr/>
        </p:nvSpPr>
        <p:spPr>
          <a:xfrm>
            <a:off x="6345936" y="1828800"/>
            <a:ext cx="640080" cy="640080"/>
          </a:xfrm>
          <a:prstGeom prst="rect">
            <a:avLst/>
          </a:prstGeom>
          <a:noFill/>
          <a:ln/>
        </p:spPr>
        <p:txBody>
          <a:bodyPr wrap="square" lIns="0" tIns="0" rIns="0" bIns="0" rtlCol="0" anchor="ctr"/>
          <a:lstStyle/>
          <a:p>
            <a:pPr algn="ctr" indent="0" marL="0">
              <a:buNone/>
            </a:pPr>
            <a:r>
              <a:rPr lang="en-US" sz="2200" b="1" dirty="0">
                <a:solidFill>
                  <a:srgbClr val="14213D"/>
                </a:solidFill>
                <a:latin typeface="Cambria" pitchFamily="34" charset="0"/>
                <a:ea typeface="Cambria" pitchFamily="34" charset="-122"/>
                <a:cs typeface="Cambria" pitchFamily="34" charset="-120"/>
              </a:rPr>
              <a:t>R</a:t>
            </a:r>
            <a:endParaRPr lang="en-US" sz="2200" dirty="0"/>
          </a:p>
        </p:txBody>
      </p:sp>
      <p:sp>
        <p:nvSpPr>
          <p:cNvPr id="19" name="Text 17"/>
          <p:cNvSpPr txBox="1"/>
          <p:nvPr/>
        </p:nvSpPr>
        <p:spPr>
          <a:xfrm>
            <a:off x="7123176" y="182880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Rhea</a:t>
            </a:r>
            <a:endParaRPr lang="en-US" sz="1600" dirty="0"/>
          </a:p>
        </p:txBody>
      </p:sp>
      <p:sp>
        <p:nvSpPr>
          <p:cNvPr id="20" name="Text 18"/>
          <p:cNvSpPr txBox="1"/>
          <p:nvPr/>
        </p:nvSpPr>
        <p:spPr>
          <a:xfrm>
            <a:off x="7123176" y="214884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Requester</a:t>
            </a:r>
            <a:endParaRPr lang="en-US" sz="1400" dirty="0"/>
          </a:p>
        </p:txBody>
      </p:sp>
      <p:sp>
        <p:nvSpPr>
          <p:cNvPr id="21" name="Text 19"/>
          <p:cNvSpPr txBox="1"/>
          <p:nvPr/>
        </p:nvSpPr>
        <p:spPr>
          <a:xfrm>
            <a:off x="6345936" y="269748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Submits requests and tracks them end to end</a:t>
            </a:r>
            <a:endParaRPr lang="en-US" sz="1400" dirty="0"/>
          </a:p>
        </p:txBody>
      </p:sp>
      <p:sp>
        <p:nvSpPr>
          <p:cNvPr id="22" name="persona card Mani, Max"/>
          <p:cNvSpPr/>
          <p:nvPr/>
        </p:nvSpPr>
        <p:spPr>
          <a:xfrm>
            <a:off x="8970264" y="1645920"/>
            <a:ext cx="2651760" cy="2011680"/>
          </a:xfrm>
          <a:prstGeom prst="roundRect">
            <a:avLst>
              <a:gd name="adj" fmla="val 3636"/>
            </a:avLst>
          </a:prstGeom>
          <a:solidFill>
            <a:srgbClr val="EEF3F8"/>
          </a:solidFill>
          <a:ln w="12700">
            <a:solidFill>
              <a:srgbClr val="EEF3F8"/>
            </a:solidFill>
            <a:prstDash val="solid"/>
          </a:ln>
        </p:spPr>
      </p:sp>
      <p:sp>
        <p:nvSpPr>
          <p:cNvPr id="23" name="avatar Mani, Max"/>
          <p:cNvSpPr/>
          <p:nvPr/>
        </p:nvSpPr>
        <p:spPr>
          <a:xfrm>
            <a:off x="9153144" y="1828800"/>
            <a:ext cx="640080" cy="640080"/>
          </a:xfrm>
          <a:prstGeom prst="ellipse">
            <a:avLst/>
          </a:prstGeom>
          <a:solidFill>
            <a:srgbClr val="0F7C8A"/>
          </a:solidFill>
          <a:ln w="12700">
            <a:solidFill>
              <a:srgbClr val="0F7C8A"/>
            </a:solidFill>
            <a:prstDash val="solid"/>
          </a:ln>
        </p:spPr>
      </p:sp>
      <p:sp>
        <p:nvSpPr>
          <p:cNvPr id="24" name="Text 22"/>
          <p:cNvSpPr txBox="1"/>
          <p:nvPr/>
        </p:nvSpPr>
        <p:spPr>
          <a:xfrm>
            <a:off x="9153144"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a:t>
            </a:r>
            <a:endParaRPr lang="en-US" sz="2200" dirty="0"/>
          </a:p>
        </p:txBody>
      </p:sp>
      <p:sp>
        <p:nvSpPr>
          <p:cNvPr id="25" name="Text 23"/>
          <p:cNvSpPr txBox="1"/>
          <p:nvPr/>
        </p:nvSpPr>
        <p:spPr>
          <a:xfrm>
            <a:off x="9930384" y="182880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Mani, Max</a:t>
            </a:r>
            <a:endParaRPr lang="en-US" sz="1600" dirty="0"/>
          </a:p>
        </p:txBody>
      </p:sp>
      <p:sp>
        <p:nvSpPr>
          <p:cNvPr id="26" name="Text 24"/>
          <p:cNvSpPr txBox="1"/>
          <p:nvPr/>
        </p:nvSpPr>
        <p:spPr>
          <a:xfrm>
            <a:off x="9930384" y="214884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Managers</a:t>
            </a:r>
            <a:endParaRPr lang="en-US" sz="1400" dirty="0"/>
          </a:p>
        </p:txBody>
      </p:sp>
      <p:sp>
        <p:nvSpPr>
          <p:cNvPr id="27" name="Text 25"/>
          <p:cNvSpPr txBox="1"/>
          <p:nvPr/>
        </p:nvSpPr>
        <p:spPr>
          <a:xfrm>
            <a:off x="9153144" y="269748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Approve or reject the first step</a:t>
            </a:r>
            <a:endParaRPr lang="en-US" sz="1400" dirty="0"/>
          </a:p>
        </p:txBody>
      </p:sp>
      <p:sp>
        <p:nvSpPr>
          <p:cNvPr id="28" name="persona card Fin"/>
          <p:cNvSpPr/>
          <p:nvPr/>
        </p:nvSpPr>
        <p:spPr>
          <a:xfrm>
            <a:off x="548640" y="3886200"/>
            <a:ext cx="2651760" cy="2011680"/>
          </a:xfrm>
          <a:prstGeom prst="roundRect">
            <a:avLst>
              <a:gd name="adj" fmla="val 3636"/>
            </a:avLst>
          </a:prstGeom>
          <a:solidFill>
            <a:srgbClr val="EEF3F8"/>
          </a:solidFill>
          <a:ln w="12700">
            <a:solidFill>
              <a:srgbClr val="EEF3F8"/>
            </a:solidFill>
            <a:prstDash val="solid"/>
          </a:ln>
        </p:spPr>
      </p:sp>
      <p:sp>
        <p:nvSpPr>
          <p:cNvPr id="29" name="avatar Fin"/>
          <p:cNvSpPr/>
          <p:nvPr/>
        </p:nvSpPr>
        <p:spPr>
          <a:xfrm>
            <a:off x="731520" y="4069080"/>
            <a:ext cx="640080" cy="640080"/>
          </a:xfrm>
          <a:prstGeom prst="ellipse">
            <a:avLst/>
          </a:prstGeom>
          <a:solidFill>
            <a:srgbClr val="14213D"/>
          </a:solidFill>
          <a:ln w="12700">
            <a:solidFill>
              <a:srgbClr val="14213D"/>
            </a:solidFill>
            <a:prstDash val="solid"/>
          </a:ln>
        </p:spPr>
      </p:sp>
      <p:sp>
        <p:nvSpPr>
          <p:cNvPr id="30" name="Text 28"/>
          <p:cNvSpPr txBox="1"/>
          <p:nvPr/>
        </p:nvSpPr>
        <p:spPr>
          <a:xfrm>
            <a:off x="731520"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F</a:t>
            </a:r>
            <a:endParaRPr lang="en-US" sz="2200" dirty="0"/>
          </a:p>
        </p:txBody>
      </p:sp>
      <p:sp>
        <p:nvSpPr>
          <p:cNvPr id="31" name="Text 29"/>
          <p:cNvSpPr txBox="1"/>
          <p:nvPr/>
        </p:nvSpPr>
        <p:spPr>
          <a:xfrm>
            <a:off x="1508760" y="406908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Fin</a:t>
            </a:r>
            <a:endParaRPr lang="en-US" sz="1600" dirty="0"/>
          </a:p>
        </p:txBody>
      </p:sp>
      <p:sp>
        <p:nvSpPr>
          <p:cNvPr id="32" name="Text 30"/>
          <p:cNvSpPr txBox="1"/>
          <p:nvPr/>
        </p:nvSpPr>
        <p:spPr>
          <a:xfrm>
            <a:off x="1508760" y="438912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Finance</a:t>
            </a:r>
            <a:endParaRPr lang="en-US" sz="1400" dirty="0"/>
          </a:p>
        </p:txBody>
      </p:sp>
      <p:sp>
        <p:nvSpPr>
          <p:cNvPr id="33" name="Text 31"/>
          <p:cNvSpPr txBox="1"/>
          <p:nvPr/>
        </p:nvSpPr>
        <p:spPr>
          <a:xfrm>
            <a:off x="731520" y="493776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Approves requests of USD 5,000 or more</a:t>
            </a:r>
            <a:endParaRPr lang="en-US" sz="1400" dirty="0"/>
          </a:p>
        </p:txBody>
      </p:sp>
      <p:sp>
        <p:nvSpPr>
          <p:cNvPr id="34" name="persona card Olga"/>
          <p:cNvSpPr/>
          <p:nvPr/>
        </p:nvSpPr>
        <p:spPr>
          <a:xfrm>
            <a:off x="3355848" y="3886200"/>
            <a:ext cx="2651760" cy="2011680"/>
          </a:xfrm>
          <a:prstGeom prst="roundRect">
            <a:avLst>
              <a:gd name="adj" fmla="val 3636"/>
            </a:avLst>
          </a:prstGeom>
          <a:solidFill>
            <a:srgbClr val="EEF3F8"/>
          </a:solidFill>
          <a:ln w="12700">
            <a:solidFill>
              <a:srgbClr val="EEF3F8"/>
            </a:solidFill>
            <a:prstDash val="solid"/>
          </a:ln>
        </p:spPr>
      </p:sp>
      <p:sp>
        <p:nvSpPr>
          <p:cNvPr id="35" name="avatar Olga"/>
          <p:cNvSpPr/>
          <p:nvPr/>
        </p:nvSpPr>
        <p:spPr>
          <a:xfrm>
            <a:off x="3538728" y="4069080"/>
            <a:ext cx="640080" cy="640080"/>
          </a:xfrm>
          <a:prstGeom prst="ellipse">
            <a:avLst/>
          </a:prstGeom>
          <a:solidFill>
            <a:srgbClr val="F2A541"/>
          </a:solidFill>
          <a:ln w="12700">
            <a:solidFill>
              <a:srgbClr val="F2A541"/>
            </a:solidFill>
            <a:prstDash val="solid"/>
          </a:ln>
        </p:spPr>
      </p:sp>
      <p:sp>
        <p:nvSpPr>
          <p:cNvPr id="36" name="Text 34"/>
          <p:cNvSpPr txBox="1"/>
          <p:nvPr/>
        </p:nvSpPr>
        <p:spPr>
          <a:xfrm>
            <a:off x="3538728" y="4069080"/>
            <a:ext cx="640080" cy="640080"/>
          </a:xfrm>
          <a:prstGeom prst="rect">
            <a:avLst/>
          </a:prstGeom>
          <a:noFill/>
          <a:ln/>
        </p:spPr>
        <p:txBody>
          <a:bodyPr wrap="square" lIns="0" tIns="0" rIns="0" bIns="0" rtlCol="0" anchor="ctr"/>
          <a:lstStyle/>
          <a:p>
            <a:pPr algn="ctr" indent="0" marL="0">
              <a:buNone/>
            </a:pPr>
            <a:r>
              <a:rPr lang="en-US" sz="2200" b="1" dirty="0">
                <a:solidFill>
                  <a:srgbClr val="14213D"/>
                </a:solidFill>
                <a:latin typeface="Cambria" pitchFamily="34" charset="0"/>
                <a:ea typeface="Cambria" pitchFamily="34" charset="-122"/>
                <a:cs typeface="Cambria" pitchFamily="34" charset="-120"/>
              </a:rPr>
              <a:t>O</a:t>
            </a:r>
            <a:endParaRPr lang="en-US" sz="2200" dirty="0"/>
          </a:p>
        </p:txBody>
      </p:sp>
      <p:sp>
        <p:nvSpPr>
          <p:cNvPr id="37" name="Text 35"/>
          <p:cNvSpPr txBox="1"/>
          <p:nvPr/>
        </p:nvSpPr>
        <p:spPr>
          <a:xfrm>
            <a:off x="4315968" y="406908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Olga</a:t>
            </a:r>
            <a:endParaRPr lang="en-US" sz="1600" dirty="0"/>
          </a:p>
        </p:txBody>
      </p:sp>
      <p:sp>
        <p:nvSpPr>
          <p:cNvPr id="38" name="Text 36"/>
          <p:cNvSpPr txBox="1"/>
          <p:nvPr/>
        </p:nvSpPr>
        <p:spPr>
          <a:xfrm>
            <a:off x="4315968" y="438912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Operator</a:t>
            </a:r>
            <a:endParaRPr lang="en-US" sz="1400" dirty="0"/>
          </a:p>
        </p:txBody>
      </p:sp>
      <p:sp>
        <p:nvSpPr>
          <p:cNvPr id="39" name="Text 37"/>
          <p:cNvSpPr txBox="1"/>
          <p:nvPr/>
        </p:nvSpPr>
        <p:spPr>
          <a:xfrm>
            <a:off x="3538728" y="493776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Watches runs, repairs and reconciles</a:t>
            </a:r>
            <a:endParaRPr lang="en-US" sz="1400" dirty="0"/>
          </a:p>
        </p:txBody>
      </p:sp>
      <p:sp>
        <p:nvSpPr>
          <p:cNvPr id="40" name="persona card Wade"/>
          <p:cNvSpPr/>
          <p:nvPr/>
        </p:nvSpPr>
        <p:spPr>
          <a:xfrm>
            <a:off x="6163056" y="3886200"/>
            <a:ext cx="2651760" cy="2011680"/>
          </a:xfrm>
          <a:prstGeom prst="roundRect">
            <a:avLst>
              <a:gd name="adj" fmla="val 3636"/>
            </a:avLst>
          </a:prstGeom>
          <a:solidFill>
            <a:srgbClr val="EEF3F8"/>
          </a:solidFill>
          <a:ln w="12700">
            <a:solidFill>
              <a:srgbClr val="EEF3F8"/>
            </a:solidFill>
            <a:prstDash val="solid"/>
          </a:ln>
        </p:spPr>
      </p:sp>
      <p:sp>
        <p:nvSpPr>
          <p:cNvPr id="41" name="avatar Wade"/>
          <p:cNvSpPr/>
          <p:nvPr/>
        </p:nvSpPr>
        <p:spPr>
          <a:xfrm>
            <a:off x="6345936" y="4069080"/>
            <a:ext cx="640080" cy="640080"/>
          </a:xfrm>
          <a:prstGeom prst="ellipse">
            <a:avLst/>
          </a:prstGeom>
          <a:solidFill>
            <a:srgbClr val="0F7C8A"/>
          </a:solidFill>
          <a:ln w="12700">
            <a:solidFill>
              <a:srgbClr val="0F7C8A"/>
            </a:solidFill>
            <a:prstDash val="solid"/>
          </a:ln>
        </p:spPr>
      </p:sp>
      <p:sp>
        <p:nvSpPr>
          <p:cNvPr id="42" name="Text 40"/>
          <p:cNvSpPr txBox="1"/>
          <p:nvPr/>
        </p:nvSpPr>
        <p:spPr>
          <a:xfrm>
            <a:off x="6345936"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a:t>
            </a:r>
            <a:endParaRPr lang="en-US" sz="2200" dirty="0"/>
          </a:p>
        </p:txBody>
      </p:sp>
      <p:sp>
        <p:nvSpPr>
          <p:cNvPr id="43" name="Text 41"/>
          <p:cNvSpPr txBox="1"/>
          <p:nvPr/>
        </p:nvSpPr>
        <p:spPr>
          <a:xfrm>
            <a:off x="7123176" y="406908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Wade</a:t>
            </a:r>
            <a:endParaRPr lang="en-US" sz="1600" dirty="0"/>
          </a:p>
        </p:txBody>
      </p:sp>
      <p:sp>
        <p:nvSpPr>
          <p:cNvPr id="44" name="Text 42"/>
          <p:cNvSpPr txBox="1"/>
          <p:nvPr/>
        </p:nvSpPr>
        <p:spPr>
          <a:xfrm>
            <a:off x="7123176" y="438912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Workspace admin</a:t>
            </a:r>
            <a:endParaRPr lang="en-US" sz="1400" dirty="0"/>
          </a:p>
        </p:txBody>
      </p:sp>
      <p:sp>
        <p:nvSpPr>
          <p:cNvPr id="45" name="Text 43"/>
          <p:cNvSpPr txBox="1"/>
          <p:nvPr/>
        </p:nvSpPr>
        <p:spPr>
          <a:xfrm>
            <a:off x="6345936" y="493776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Manages access, groups and settings</a:t>
            </a:r>
            <a:endParaRPr lang="en-US" sz="1400" dirty="0"/>
          </a:p>
        </p:txBody>
      </p:sp>
      <p:sp>
        <p:nvSpPr>
          <p:cNvPr id="46" name="persona card Vic, Otto"/>
          <p:cNvSpPr/>
          <p:nvPr/>
        </p:nvSpPr>
        <p:spPr>
          <a:xfrm>
            <a:off x="8970264" y="3886200"/>
            <a:ext cx="2651760" cy="2011680"/>
          </a:xfrm>
          <a:prstGeom prst="roundRect">
            <a:avLst>
              <a:gd name="adj" fmla="val 3636"/>
            </a:avLst>
          </a:prstGeom>
          <a:solidFill>
            <a:srgbClr val="EEF3F8"/>
          </a:solidFill>
          <a:ln w="12700">
            <a:solidFill>
              <a:srgbClr val="EEF3F8"/>
            </a:solidFill>
            <a:prstDash val="solid"/>
          </a:ln>
        </p:spPr>
      </p:sp>
      <p:sp>
        <p:nvSpPr>
          <p:cNvPr id="47" name="avatar Vic, Otto"/>
          <p:cNvSpPr/>
          <p:nvPr/>
        </p:nvSpPr>
        <p:spPr>
          <a:xfrm>
            <a:off x="9153144" y="4069080"/>
            <a:ext cx="640080" cy="640080"/>
          </a:xfrm>
          <a:prstGeom prst="ellipse">
            <a:avLst/>
          </a:prstGeom>
          <a:solidFill>
            <a:srgbClr val="14213D"/>
          </a:solidFill>
          <a:ln w="12700">
            <a:solidFill>
              <a:srgbClr val="14213D"/>
            </a:solidFill>
            <a:prstDash val="solid"/>
          </a:ln>
        </p:spPr>
      </p:sp>
      <p:sp>
        <p:nvSpPr>
          <p:cNvPr id="48" name="Text 46"/>
          <p:cNvSpPr txBox="1"/>
          <p:nvPr/>
        </p:nvSpPr>
        <p:spPr>
          <a:xfrm>
            <a:off x="9153144"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V</a:t>
            </a:r>
            <a:endParaRPr lang="en-US" sz="2200" dirty="0"/>
          </a:p>
        </p:txBody>
      </p:sp>
      <p:sp>
        <p:nvSpPr>
          <p:cNvPr id="49" name="Text 47"/>
          <p:cNvSpPr txBox="1"/>
          <p:nvPr/>
        </p:nvSpPr>
        <p:spPr>
          <a:xfrm>
            <a:off x="9930384" y="4069080"/>
            <a:ext cx="160020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Vic, Otto</a:t>
            </a:r>
            <a:endParaRPr lang="en-US" sz="1600" dirty="0"/>
          </a:p>
        </p:txBody>
      </p:sp>
      <p:sp>
        <p:nvSpPr>
          <p:cNvPr id="50" name="Text 48"/>
          <p:cNvSpPr txBox="1"/>
          <p:nvPr/>
        </p:nvSpPr>
        <p:spPr>
          <a:xfrm>
            <a:off x="9930384" y="4389120"/>
            <a:ext cx="1600200" cy="320040"/>
          </a:xfrm>
          <a:prstGeom prst="rect">
            <a:avLst/>
          </a:prstGeom>
          <a:noFill/>
          <a:ln/>
        </p:spPr>
        <p:txBody>
          <a:bodyPr wrap="square" lIns="0" tIns="0" rIns="0" bIns="0" rtlCol="0" anchor="ctr"/>
          <a:lstStyle/>
          <a:p>
            <a:pPr indent="0" marL="0">
              <a:buNone/>
            </a:pPr>
            <a:r>
              <a:rPr lang="en-US" sz="1400" dirty="0">
                <a:solidFill>
                  <a:srgbClr val="5B6B7B"/>
                </a:solidFill>
                <a:latin typeface="Calibri" pitchFamily="34" charset="0"/>
                <a:ea typeface="Calibri" pitchFamily="34" charset="-122"/>
                <a:cs typeface="Calibri" pitchFamily="34" charset="-120"/>
              </a:rPr>
              <a:t>Viewer, outsider</a:t>
            </a:r>
            <a:endParaRPr lang="en-US" sz="1400" dirty="0"/>
          </a:p>
        </p:txBody>
      </p:sp>
      <p:sp>
        <p:nvSpPr>
          <p:cNvPr id="51" name="Text 49"/>
          <p:cNvSpPr txBox="1"/>
          <p:nvPr/>
        </p:nvSpPr>
        <p:spPr>
          <a:xfrm>
            <a:off x="9153144" y="4937760"/>
            <a:ext cx="2331720" cy="8229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Read-only access; outsiders see nothing</a:t>
            </a:r>
            <a:endParaRPr lang="en-US" sz="1400" dirty="0"/>
          </a:p>
        </p:txBody>
      </p:sp>
      <p:sp>
        <p:nvSpPr>
          <p:cNvPr id="52" name="Text 50"/>
          <p:cNvSpPr txBox="1"/>
          <p:nvPr/>
        </p:nvSpPr>
        <p:spPr>
          <a:xfrm>
            <a:off x="548640" y="6263640"/>
            <a:ext cx="11064240" cy="274320"/>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Also in the demo: Pat (platform admin) and Fred (a second workspace).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3400" b="1" dirty="0">
                <a:solidFill>
                  <a:srgbClr val="14213D"/>
                </a:solidFill>
                <a:latin typeface="Cambria" pitchFamily="34" charset="0"/>
                <a:ea typeface="Cambria" pitchFamily="34" charset="-122"/>
                <a:cs typeface="Cambria" pitchFamily="34" charset="-120"/>
              </a:rPr>
              <a:t>Migration</a:t>
            </a:r>
            <a:endParaRPr lang="en-US" sz="34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600" dirty="0">
                <a:solidFill>
                  <a:srgbClr val="5B6B7B"/>
                </a:solidFill>
                <a:latin typeface="Calibri" pitchFamily="34" charset="0"/>
                <a:ea typeface="Calibri" pitchFamily="34" charset="-122"/>
                <a:cs typeface="Calibri" pitchFamily="34" charset="-120"/>
              </a:rPr>
              <a:t>Bring existing definitions in, reviewed and mapped, never silently</a:t>
            </a:r>
            <a:endParaRPr lang="en-US" sz="1600" dirty="0"/>
          </a:p>
        </p:txBody>
      </p:sp>
      <p:sp>
        <p:nvSpPr>
          <p:cNvPr id="4" name="source Camunda 7 and 8"/>
          <p:cNvSpPr/>
          <p:nvPr/>
        </p:nvSpPr>
        <p:spPr>
          <a:xfrm>
            <a:off x="548640" y="1554480"/>
            <a:ext cx="2103120" cy="1645920"/>
          </a:xfrm>
          <a:prstGeom prst="roundRect">
            <a:avLst>
              <a:gd name="adj" fmla="val 4444"/>
            </a:avLst>
          </a:prstGeom>
          <a:solidFill>
            <a:srgbClr val="EEF3F8"/>
          </a:solidFill>
          <a:ln w="12700">
            <a:solidFill>
              <a:srgbClr val="EEF3F8"/>
            </a:solidFill>
            <a:prstDash val="solid"/>
          </a:ln>
        </p:spPr>
      </p:sp>
      <p:sp>
        <p:nvSpPr>
          <p:cNvPr id="5" name="Text 3"/>
          <p:cNvSpPr txBox="1"/>
          <p:nvPr/>
        </p:nvSpPr>
        <p:spPr>
          <a:xfrm>
            <a:off x="685800" y="1645920"/>
            <a:ext cx="182880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Camunda 7 and 8</a:t>
            </a:r>
            <a:endParaRPr lang="en-US" sz="1600" dirty="0"/>
          </a:p>
        </p:txBody>
      </p:sp>
      <p:sp>
        <p:nvSpPr>
          <p:cNvPr id="6" name="Text 4"/>
          <p:cNvSpPr txBox="1"/>
          <p:nvPr/>
        </p:nvSpPr>
        <p:spPr>
          <a:xfrm>
            <a:off x="685800" y="2057400"/>
            <a:ext cx="1828800" cy="54864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BPMN and DMN</a:t>
            </a:r>
            <a:endParaRPr lang="en-US" sz="1300" dirty="0"/>
          </a:p>
        </p:txBody>
      </p:sp>
      <p:sp>
        <p:nvSpPr>
          <p:cNvPr id="7" name="status Camunda 7 and 8"/>
          <p:cNvSpPr/>
          <p:nvPr/>
        </p:nvSpPr>
        <p:spPr>
          <a:xfrm>
            <a:off x="685800" y="2697480"/>
            <a:ext cx="1828800" cy="365760"/>
          </a:xfrm>
          <a:prstGeom prst="roundRect">
            <a:avLst>
              <a:gd name="adj" fmla="val 50000"/>
            </a:avLst>
          </a:prstGeom>
          <a:solidFill>
            <a:srgbClr val="0F7C8A"/>
          </a:solidFill>
          <a:ln w="12700">
            <a:solidFill>
              <a:srgbClr val="0F7C8A"/>
            </a:solidFill>
            <a:prstDash val="solid"/>
          </a:ln>
        </p:spPr>
      </p:sp>
      <p:sp>
        <p:nvSpPr>
          <p:cNvPr id="8" name="Text 6"/>
          <p:cNvSpPr txBox="1"/>
          <p:nvPr/>
        </p:nvSpPr>
        <p:spPr>
          <a:xfrm>
            <a:off x="685800" y="2697480"/>
            <a:ext cx="18288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Proven in rehearsal</a:t>
            </a:r>
            <a:endParaRPr lang="en-US" sz="1200" dirty="0"/>
          </a:p>
        </p:txBody>
      </p:sp>
      <p:sp>
        <p:nvSpPr>
          <p:cNvPr id="9" name="source Pega XPDL 2.0"/>
          <p:cNvSpPr/>
          <p:nvPr/>
        </p:nvSpPr>
        <p:spPr>
          <a:xfrm>
            <a:off x="2788920" y="1554480"/>
            <a:ext cx="2103120" cy="1645920"/>
          </a:xfrm>
          <a:prstGeom prst="roundRect">
            <a:avLst>
              <a:gd name="adj" fmla="val 4444"/>
            </a:avLst>
          </a:prstGeom>
          <a:solidFill>
            <a:srgbClr val="EEF3F8"/>
          </a:solidFill>
          <a:ln w="12700">
            <a:solidFill>
              <a:srgbClr val="EEF3F8"/>
            </a:solidFill>
            <a:prstDash val="solid"/>
          </a:ln>
        </p:spPr>
      </p:sp>
      <p:sp>
        <p:nvSpPr>
          <p:cNvPr id="10" name="Text 8"/>
          <p:cNvSpPr txBox="1"/>
          <p:nvPr/>
        </p:nvSpPr>
        <p:spPr>
          <a:xfrm>
            <a:off x="2926080" y="1645920"/>
            <a:ext cx="182880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Pega XPDL 2.0</a:t>
            </a:r>
            <a:endParaRPr lang="en-US" sz="1600" dirty="0"/>
          </a:p>
        </p:txBody>
      </p:sp>
      <p:sp>
        <p:nvSpPr>
          <p:cNvPr id="11" name="Text 9"/>
          <p:cNvSpPr txBox="1"/>
          <p:nvPr/>
        </p:nvSpPr>
        <p:spPr>
          <a:xfrm>
            <a:off x="2926080" y="2057400"/>
            <a:ext cx="1828800" cy="54864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Flow exports</a:t>
            </a:r>
            <a:endParaRPr lang="en-US" sz="1300" dirty="0"/>
          </a:p>
        </p:txBody>
      </p:sp>
      <p:sp>
        <p:nvSpPr>
          <p:cNvPr id="12" name="status Pega XPDL 2.0"/>
          <p:cNvSpPr/>
          <p:nvPr/>
        </p:nvSpPr>
        <p:spPr>
          <a:xfrm>
            <a:off x="2926080" y="2697480"/>
            <a:ext cx="1828800" cy="365760"/>
          </a:xfrm>
          <a:prstGeom prst="roundRect">
            <a:avLst>
              <a:gd name="adj" fmla="val 50000"/>
            </a:avLst>
          </a:prstGeom>
          <a:solidFill>
            <a:srgbClr val="0F7C8A"/>
          </a:solidFill>
          <a:ln w="12700">
            <a:solidFill>
              <a:srgbClr val="0F7C8A"/>
            </a:solidFill>
            <a:prstDash val="solid"/>
          </a:ln>
        </p:spPr>
      </p:sp>
      <p:sp>
        <p:nvSpPr>
          <p:cNvPr id="13" name="Text 11"/>
          <p:cNvSpPr txBox="1"/>
          <p:nvPr/>
        </p:nvSpPr>
        <p:spPr>
          <a:xfrm>
            <a:off x="2926080" y="2697480"/>
            <a:ext cx="18288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Proven in rehearsal</a:t>
            </a:r>
            <a:endParaRPr lang="en-US" sz="1200" dirty="0"/>
          </a:p>
        </p:txBody>
      </p:sp>
      <p:sp>
        <p:nvSpPr>
          <p:cNvPr id="14" name="source Pega archive"/>
          <p:cNvSpPr/>
          <p:nvPr/>
        </p:nvSpPr>
        <p:spPr>
          <a:xfrm>
            <a:off x="5029200" y="1554480"/>
            <a:ext cx="2103120" cy="1645920"/>
          </a:xfrm>
          <a:prstGeom prst="roundRect">
            <a:avLst>
              <a:gd name="adj" fmla="val 4444"/>
            </a:avLst>
          </a:prstGeom>
          <a:solidFill>
            <a:srgbClr val="EEF3F8"/>
          </a:solidFill>
          <a:ln w="12700">
            <a:solidFill>
              <a:srgbClr val="EEF3F8"/>
            </a:solidFill>
            <a:prstDash val="solid"/>
          </a:ln>
        </p:spPr>
      </p:sp>
      <p:sp>
        <p:nvSpPr>
          <p:cNvPr id="15" name="Text 13"/>
          <p:cNvSpPr txBox="1"/>
          <p:nvPr/>
        </p:nvSpPr>
        <p:spPr>
          <a:xfrm>
            <a:off x="5166360" y="1645920"/>
            <a:ext cx="182880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Pega archive</a:t>
            </a:r>
            <a:endParaRPr lang="en-US" sz="1600" dirty="0"/>
          </a:p>
        </p:txBody>
      </p:sp>
      <p:sp>
        <p:nvSpPr>
          <p:cNvPr id="16" name="Text 14"/>
          <p:cNvSpPr txBox="1"/>
          <p:nvPr/>
        </p:nvSpPr>
        <p:spPr>
          <a:xfrm>
            <a:off x="5166360" y="2057400"/>
            <a:ext cx="1828800" cy="54864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Assess and reconstruct</a:t>
            </a:r>
            <a:endParaRPr lang="en-US" sz="1300" dirty="0"/>
          </a:p>
        </p:txBody>
      </p:sp>
      <p:sp>
        <p:nvSpPr>
          <p:cNvPr id="17" name="status Pega archive"/>
          <p:cNvSpPr/>
          <p:nvPr/>
        </p:nvSpPr>
        <p:spPr>
          <a:xfrm>
            <a:off x="5166360" y="2697480"/>
            <a:ext cx="1828800" cy="365760"/>
          </a:xfrm>
          <a:prstGeom prst="roundRect">
            <a:avLst>
              <a:gd name="adj" fmla="val 50000"/>
            </a:avLst>
          </a:prstGeom>
          <a:solidFill>
            <a:srgbClr val="5B6B7B"/>
          </a:solidFill>
          <a:ln w="12700">
            <a:solidFill>
              <a:srgbClr val="5B6B7B"/>
            </a:solidFill>
            <a:prstDash val="solid"/>
          </a:ln>
        </p:spPr>
      </p:sp>
      <p:sp>
        <p:nvSpPr>
          <p:cNvPr id="18" name="Text 16"/>
          <p:cNvSpPr txBox="1"/>
          <p:nvPr/>
        </p:nvSpPr>
        <p:spPr>
          <a:xfrm>
            <a:off x="5166360" y="2697480"/>
            <a:ext cx="18288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Assessment only</a:t>
            </a:r>
            <a:endParaRPr lang="en-US" sz="1200" dirty="0"/>
          </a:p>
        </p:txBody>
      </p:sp>
      <p:sp>
        <p:nvSpPr>
          <p:cNvPr id="19" name="source Decision snapshot"/>
          <p:cNvSpPr/>
          <p:nvPr/>
        </p:nvSpPr>
        <p:spPr>
          <a:xfrm>
            <a:off x="7269480" y="1554480"/>
            <a:ext cx="2103120" cy="1645920"/>
          </a:xfrm>
          <a:prstGeom prst="roundRect">
            <a:avLst>
              <a:gd name="adj" fmla="val 4444"/>
            </a:avLst>
          </a:prstGeom>
          <a:solidFill>
            <a:srgbClr val="EEF3F8"/>
          </a:solidFill>
          <a:ln w="12700">
            <a:solidFill>
              <a:srgbClr val="EEF3F8"/>
            </a:solidFill>
            <a:prstDash val="solid"/>
          </a:ln>
        </p:spPr>
      </p:sp>
      <p:sp>
        <p:nvSpPr>
          <p:cNvPr id="20" name="Text 18"/>
          <p:cNvSpPr txBox="1"/>
          <p:nvPr/>
        </p:nvSpPr>
        <p:spPr>
          <a:xfrm>
            <a:off x="7406640" y="1645920"/>
            <a:ext cx="182880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Decision snapshot</a:t>
            </a:r>
            <a:endParaRPr lang="en-US" sz="1600" dirty="0"/>
          </a:p>
        </p:txBody>
      </p:sp>
      <p:sp>
        <p:nvSpPr>
          <p:cNvPr id="21" name="Text 19"/>
          <p:cNvSpPr txBox="1"/>
          <p:nvPr/>
        </p:nvSpPr>
        <p:spPr>
          <a:xfrm>
            <a:off x="7406640" y="2057400"/>
            <a:ext cx="1828800" cy="54864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Readable Pega rules to DMN</a:t>
            </a:r>
            <a:endParaRPr lang="en-US" sz="1300" dirty="0"/>
          </a:p>
        </p:txBody>
      </p:sp>
      <p:sp>
        <p:nvSpPr>
          <p:cNvPr id="22" name="status Decision snapshot"/>
          <p:cNvSpPr/>
          <p:nvPr/>
        </p:nvSpPr>
        <p:spPr>
          <a:xfrm>
            <a:off x="7406640" y="2697480"/>
            <a:ext cx="1828800" cy="365760"/>
          </a:xfrm>
          <a:prstGeom prst="roundRect">
            <a:avLst>
              <a:gd name="adj" fmla="val 50000"/>
            </a:avLst>
          </a:prstGeom>
          <a:solidFill>
            <a:srgbClr val="5B6B7B"/>
          </a:solidFill>
          <a:ln w="12700">
            <a:solidFill>
              <a:srgbClr val="5B6B7B"/>
            </a:solidFill>
            <a:prstDash val="solid"/>
          </a:ln>
        </p:spPr>
      </p:sp>
      <p:sp>
        <p:nvSpPr>
          <p:cNvPr id="23" name="Text 21"/>
          <p:cNvSpPr txBox="1"/>
          <p:nvPr/>
        </p:nvSpPr>
        <p:spPr>
          <a:xfrm>
            <a:off x="7406640" y="2697480"/>
            <a:ext cx="18288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Bounded subset</a:t>
            </a:r>
            <a:endParaRPr lang="en-US" sz="1200" dirty="0"/>
          </a:p>
        </p:txBody>
      </p:sp>
      <p:sp>
        <p:nvSpPr>
          <p:cNvPr id="24" name="source Blueprint PDF"/>
          <p:cNvSpPr/>
          <p:nvPr/>
        </p:nvSpPr>
        <p:spPr>
          <a:xfrm>
            <a:off x="9509760" y="1554480"/>
            <a:ext cx="2103120" cy="1645920"/>
          </a:xfrm>
          <a:prstGeom prst="roundRect">
            <a:avLst>
              <a:gd name="adj" fmla="val 4444"/>
            </a:avLst>
          </a:prstGeom>
          <a:solidFill>
            <a:srgbClr val="EEF3F8"/>
          </a:solidFill>
          <a:ln w="12700">
            <a:solidFill>
              <a:srgbClr val="EEF3F8"/>
            </a:solidFill>
            <a:prstDash val="solid"/>
          </a:ln>
        </p:spPr>
      </p:sp>
      <p:sp>
        <p:nvSpPr>
          <p:cNvPr id="25" name="Text 23"/>
          <p:cNvSpPr txBox="1"/>
          <p:nvPr/>
        </p:nvSpPr>
        <p:spPr>
          <a:xfrm>
            <a:off x="9646920" y="1645920"/>
            <a:ext cx="182880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Blueprint PDF</a:t>
            </a:r>
            <a:endParaRPr lang="en-US" sz="1600" dirty="0"/>
          </a:p>
        </p:txBody>
      </p:sp>
      <p:sp>
        <p:nvSpPr>
          <p:cNvPr id="26" name="Text 24"/>
          <p:cNvSpPr txBox="1"/>
          <p:nvPr/>
        </p:nvSpPr>
        <p:spPr>
          <a:xfrm>
            <a:off x="9646920" y="2057400"/>
            <a:ext cx="1828800" cy="54864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Reviewed transcription</a:t>
            </a:r>
            <a:endParaRPr lang="en-US" sz="1300" dirty="0"/>
          </a:p>
        </p:txBody>
      </p:sp>
      <p:sp>
        <p:nvSpPr>
          <p:cNvPr id="27" name="status Blueprint PDF"/>
          <p:cNvSpPr/>
          <p:nvPr/>
        </p:nvSpPr>
        <p:spPr>
          <a:xfrm>
            <a:off x="9646920" y="2697480"/>
            <a:ext cx="1828800" cy="365760"/>
          </a:xfrm>
          <a:prstGeom prst="roundRect">
            <a:avLst>
              <a:gd name="adj" fmla="val 50000"/>
            </a:avLst>
          </a:prstGeom>
          <a:solidFill>
            <a:srgbClr val="F2A541"/>
          </a:solidFill>
          <a:ln w="12700">
            <a:solidFill>
              <a:srgbClr val="F2A541"/>
            </a:solidFill>
            <a:prstDash val="solid"/>
          </a:ln>
        </p:spPr>
      </p:sp>
      <p:sp>
        <p:nvSpPr>
          <p:cNvPr id="28" name="Text 26"/>
          <p:cNvSpPr txBox="1"/>
          <p:nvPr/>
        </p:nvSpPr>
        <p:spPr>
          <a:xfrm>
            <a:off x="9646920" y="2697480"/>
            <a:ext cx="1828800"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Synthetic sample</a:t>
            </a:r>
            <a:endParaRPr lang="en-US" sz="1200" dirty="0"/>
          </a:p>
        </p:txBody>
      </p:sp>
      <p:sp>
        <p:nvSpPr>
          <p:cNvPr id="29" name="step Upload"/>
          <p:cNvSpPr/>
          <p:nvPr/>
        </p:nvSpPr>
        <p:spPr>
          <a:xfrm>
            <a:off x="548640" y="3611880"/>
            <a:ext cx="1554480" cy="731520"/>
          </a:xfrm>
          <a:prstGeom prst="chevron">
            <a:avLst/>
          </a:prstGeom>
          <a:solidFill>
            <a:srgbClr val="14213D"/>
          </a:solidFill>
          <a:ln w="12700">
            <a:solidFill>
              <a:srgbClr val="FFFFFF"/>
            </a:solidFill>
            <a:prstDash val="solid"/>
          </a:ln>
        </p:spPr>
      </p:sp>
      <p:sp>
        <p:nvSpPr>
          <p:cNvPr id="30" name="Text 28"/>
          <p:cNvSpPr txBox="1"/>
          <p:nvPr/>
        </p:nvSpPr>
        <p:spPr>
          <a:xfrm>
            <a:off x="822960" y="361188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Upload</a:t>
            </a:r>
            <a:endParaRPr lang="en-US" sz="1400" dirty="0"/>
          </a:p>
        </p:txBody>
      </p:sp>
      <p:sp>
        <p:nvSpPr>
          <p:cNvPr id="31" name="step Analyse"/>
          <p:cNvSpPr/>
          <p:nvPr/>
        </p:nvSpPr>
        <p:spPr>
          <a:xfrm>
            <a:off x="2130552" y="3611880"/>
            <a:ext cx="1554480" cy="731520"/>
          </a:xfrm>
          <a:prstGeom prst="chevron">
            <a:avLst/>
          </a:prstGeom>
          <a:solidFill>
            <a:srgbClr val="0F7C8A"/>
          </a:solidFill>
          <a:ln w="12700">
            <a:solidFill>
              <a:srgbClr val="FFFFFF"/>
            </a:solidFill>
            <a:prstDash val="solid"/>
          </a:ln>
        </p:spPr>
      </p:sp>
      <p:sp>
        <p:nvSpPr>
          <p:cNvPr id="32" name="Text 30"/>
          <p:cNvSpPr txBox="1"/>
          <p:nvPr/>
        </p:nvSpPr>
        <p:spPr>
          <a:xfrm>
            <a:off x="2404872" y="361188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Analyse</a:t>
            </a:r>
            <a:endParaRPr lang="en-US" sz="1400" dirty="0"/>
          </a:p>
        </p:txBody>
      </p:sp>
      <p:sp>
        <p:nvSpPr>
          <p:cNvPr id="33" name="step Map roles"/>
          <p:cNvSpPr/>
          <p:nvPr/>
        </p:nvSpPr>
        <p:spPr>
          <a:xfrm>
            <a:off x="3712464" y="3611880"/>
            <a:ext cx="1554480" cy="731520"/>
          </a:xfrm>
          <a:prstGeom prst="chevron">
            <a:avLst/>
          </a:prstGeom>
          <a:solidFill>
            <a:srgbClr val="14213D"/>
          </a:solidFill>
          <a:ln w="12700">
            <a:solidFill>
              <a:srgbClr val="FFFFFF"/>
            </a:solidFill>
            <a:prstDash val="solid"/>
          </a:ln>
        </p:spPr>
      </p:sp>
      <p:sp>
        <p:nvSpPr>
          <p:cNvPr id="34" name="Text 32"/>
          <p:cNvSpPr txBox="1"/>
          <p:nvPr/>
        </p:nvSpPr>
        <p:spPr>
          <a:xfrm>
            <a:off x="3986784" y="361188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Map roles</a:t>
            </a:r>
            <a:endParaRPr lang="en-US" sz="1400" dirty="0"/>
          </a:p>
        </p:txBody>
      </p:sp>
      <p:sp>
        <p:nvSpPr>
          <p:cNvPr id="35" name="step Review"/>
          <p:cNvSpPr/>
          <p:nvPr/>
        </p:nvSpPr>
        <p:spPr>
          <a:xfrm>
            <a:off x="5294376" y="3611880"/>
            <a:ext cx="1554480" cy="731520"/>
          </a:xfrm>
          <a:prstGeom prst="chevron">
            <a:avLst/>
          </a:prstGeom>
          <a:solidFill>
            <a:srgbClr val="0F7C8A"/>
          </a:solidFill>
          <a:ln w="12700">
            <a:solidFill>
              <a:srgbClr val="FFFFFF"/>
            </a:solidFill>
            <a:prstDash val="solid"/>
          </a:ln>
        </p:spPr>
      </p:sp>
      <p:sp>
        <p:nvSpPr>
          <p:cNvPr id="36" name="Text 34"/>
          <p:cNvSpPr txBox="1"/>
          <p:nvPr/>
        </p:nvSpPr>
        <p:spPr>
          <a:xfrm>
            <a:off x="5568696" y="361188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Review</a:t>
            </a:r>
            <a:endParaRPr lang="en-US" sz="1400" dirty="0"/>
          </a:p>
        </p:txBody>
      </p:sp>
      <p:sp>
        <p:nvSpPr>
          <p:cNvPr id="37" name="step Convert"/>
          <p:cNvSpPr/>
          <p:nvPr/>
        </p:nvSpPr>
        <p:spPr>
          <a:xfrm>
            <a:off x="6876288" y="3611880"/>
            <a:ext cx="1554480" cy="731520"/>
          </a:xfrm>
          <a:prstGeom prst="chevron">
            <a:avLst/>
          </a:prstGeom>
          <a:solidFill>
            <a:srgbClr val="14213D"/>
          </a:solidFill>
          <a:ln w="12700">
            <a:solidFill>
              <a:srgbClr val="FFFFFF"/>
            </a:solidFill>
            <a:prstDash val="solid"/>
          </a:ln>
        </p:spPr>
      </p:sp>
      <p:sp>
        <p:nvSpPr>
          <p:cNvPr id="38" name="Text 36"/>
          <p:cNvSpPr txBox="1"/>
          <p:nvPr/>
        </p:nvSpPr>
        <p:spPr>
          <a:xfrm>
            <a:off x="7150608" y="361188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Convert</a:t>
            </a:r>
            <a:endParaRPr lang="en-US" sz="1400" dirty="0"/>
          </a:p>
        </p:txBody>
      </p:sp>
      <p:sp>
        <p:nvSpPr>
          <p:cNvPr id="39" name="step Publish"/>
          <p:cNvSpPr/>
          <p:nvPr/>
        </p:nvSpPr>
        <p:spPr>
          <a:xfrm>
            <a:off x="8458200" y="3611880"/>
            <a:ext cx="1554480" cy="731520"/>
          </a:xfrm>
          <a:prstGeom prst="chevron">
            <a:avLst/>
          </a:prstGeom>
          <a:solidFill>
            <a:srgbClr val="0F7C8A"/>
          </a:solidFill>
          <a:ln w="12700">
            <a:solidFill>
              <a:srgbClr val="FFFFFF"/>
            </a:solidFill>
            <a:prstDash val="solid"/>
          </a:ln>
        </p:spPr>
      </p:sp>
      <p:sp>
        <p:nvSpPr>
          <p:cNvPr id="40" name="Text 38"/>
          <p:cNvSpPr txBox="1"/>
          <p:nvPr/>
        </p:nvSpPr>
        <p:spPr>
          <a:xfrm>
            <a:off x="8732520" y="361188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Publish</a:t>
            </a:r>
            <a:endParaRPr lang="en-US" sz="1400" dirty="0"/>
          </a:p>
        </p:txBody>
      </p:sp>
      <p:sp>
        <p:nvSpPr>
          <p:cNvPr id="41" name="step Run"/>
          <p:cNvSpPr/>
          <p:nvPr/>
        </p:nvSpPr>
        <p:spPr>
          <a:xfrm>
            <a:off x="10040112" y="3611880"/>
            <a:ext cx="1554480" cy="731520"/>
          </a:xfrm>
          <a:prstGeom prst="chevron">
            <a:avLst/>
          </a:prstGeom>
          <a:solidFill>
            <a:srgbClr val="14213D"/>
          </a:solidFill>
          <a:ln w="12700">
            <a:solidFill>
              <a:srgbClr val="FFFFFF"/>
            </a:solidFill>
            <a:prstDash val="solid"/>
          </a:ln>
        </p:spPr>
      </p:sp>
      <p:sp>
        <p:nvSpPr>
          <p:cNvPr id="42" name="Text 40"/>
          <p:cNvSpPr txBox="1"/>
          <p:nvPr/>
        </p:nvSpPr>
        <p:spPr>
          <a:xfrm>
            <a:off x="10314432" y="361188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a:t>
            </a:r>
            <a:endParaRPr lang="en-US" sz="1400" dirty="0"/>
          </a:p>
        </p:txBody>
      </p:sp>
      <p:sp>
        <p:nvSpPr>
          <p:cNvPr id="43" name="rules box"/>
          <p:cNvSpPr/>
          <p:nvPr/>
        </p:nvSpPr>
        <p:spPr>
          <a:xfrm>
            <a:off x="548640" y="4709160"/>
            <a:ext cx="11064240" cy="1463040"/>
          </a:xfrm>
          <a:prstGeom prst="roundRect">
            <a:avLst>
              <a:gd name="adj" fmla="val 5000"/>
            </a:avLst>
          </a:prstGeom>
          <a:solidFill>
            <a:srgbClr val="EEF3F8"/>
          </a:solidFill>
          <a:ln w="12700">
            <a:solidFill>
              <a:srgbClr val="EEF3F8"/>
            </a:solidFill>
            <a:prstDash val="solid"/>
          </a:ln>
        </p:spPr>
      </p:sp>
      <p:sp>
        <p:nvSpPr>
          <p:cNvPr id="44" name="Text 42"/>
          <p:cNvSpPr txBox="1"/>
          <p:nvPr/>
        </p:nvSpPr>
        <p:spPr>
          <a:xfrm>
            <a:off x="777240" y="4800600"/>
            <a:ext cx="10607040" cy="128016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1B2A3A"/>
                </a:solidFill>
                <a:latin typeface="Calibri" pitchFamily="34" charset="0"/>
                <a:ea typeface="Calibri" pitchFamily="34" charset="-122"/>
                <a:cs typeface="Calibri" pitchFamily="34" charset="-120"/>
              </a:rPr>
              <a:t>Every source element gets a disposition: mapped, manually resolved or excluded</a:t>
            </a:r>
            <a:endParaRPr lang="en-US" sz="1400" dirty="0"/>
          </a:p>
          <a:p>
            <a:pPr marL="342900" indent="-342900">
              <a:spcAft>
                <a:spcPts val="400"/>
              </a:spcAft>
              <a:buSzPct val="100000"/>
              <a:buChar char="•"/>
            </a:pPr>
            <a:r>
              <a:rPr lang="en-US" sz="1400" dirty="0">
                <a:solidFill>
                  <a:srgbClr val="1B2A3A"/>
                </a:solidFill>
                <a:latin typeface="Calibri" pitchFamily="34" charset="0"/>
                <a:ea typeface="Calibri" pitchFamily="34" charset="-122"/>
                <a:cs typeface="Calibri" pitchFamily="34" charset="-120"/>
              </a:rPr>
              <a:t>Unsupported items block conversion and point back to the source; nothing is dropped silently</a:t>
            </a:r>
            <a:endParaRPr lang="en-US" sz="1400" dirty="0"/>
          </a:p>
          <a:p>
            <a:pPr marL="342900" indent="-342900">
              <a:spcAft>
                <a:spcPts val="400"/>
              </a:spcAft>
              <a:buSzPct val="100000"/>
              <a:buChar char="•"/>
            </a:pPr>
            <a:r>
              <a:rPr lang="en-US" sz="1400" dirty="0">
                <a:solidFill>
                  <a:srgbClr val="1B2A3A"/>
                </a:solidFill>
                <a:latin typeface="Calibri" pitchFamily="34" charset="0"/>
                <a:ea typeface="Calibri" pitchFamily="34" charset="-122"/>
                <a:cs typeface="Calibri" pitchFamily="34" charset="-120"/>
              </a:rPr>
              <a:t>Conversion goes through the same compiler checks as a hand-built workflow, and produces a draft only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3400" b="1" dirty="0">
                <a:solidFill>
                  <a:srgbClr val="14213D"/>
                </a:solidFill>
                <a:latin typeface="Cambria" pitchFamily="34" charset="0"/>
                <a:ea typeface="Cambria" pitchFamily="34" charset="-122"/>
                <a:cs typeface="Cambria" pitchFamily="34" charset="-120"/>
              </a:rPr>
              <a:t>Architecture</a:t>
            </a:r>
            <a:endParaRPr lang="en-US" sz="34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600" dirty="0">
                <a:solidFill>
                  <a:srgbClr val="5B6B7B"/>
                </a:solidFill>
                <a:latin typeface="Calibri" pitchFamily="34" charset="0"/>
                <a:ea typeface="Calibri" pitchFamily="34" charset="-122"/>
                <a:cs typeface="Calibri" pitchFamily="34" charset="-120"/>
              </a:rPr>
              <a:t>One deployable image: the SPA is served by the backend</a:t>
            </a:r>
            <a:endParaRPr lang="en-US" sz="1600" dirty="0"/>
          </a:p>
        </p:txBody>
      </p:sp>
      <p:sp>
        <p:nvSpPr>
          <p:cNvPr id="4" name="browser"/>
          <p:cNvSpPr/>
          <p:nvPr/>
        </p:nvSpPr>
        <p:spPr>
          <a:xfrm>
            <a:off x="548640" y="1463040"/>
            <a:ext cx="2194560" cy="822960"/>
          </a:xfrm>
          <a:prstGeom prst="roundRect">
            <a:avLst>
              <a:gd name="adj" fmla="val 8889"/>
            </a:avLst>
          </a:prstGeom>
          <a:solidFill>
            <a:srgbClr val="14213D"/>
          </a:solidFill>
          <a:ln w="12700">
            <a:solidFill>
              <a:srgbClr val="14213D"/>
            </a:solidFill>
            <a:prstDash val="solid"/>
          </a:ln>
        </p:spPr>
      </p:sp>
      <p:sp>
        <p:nvSpPr>
          <p:cNvPr id="5" name="Text 3"/>
          <p:cNvSpPr txBox="1"/>
          <p:nvPr/>
        </p:nvSpPr>
        <p:spPr>
          <a:xfrm>
            <a:off x="548640" y="1463040"/>
            <a:ext cx="21945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Browser</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React SPA</a:t>
            </a:r>
            <a:endParaRPr lang="en-US" sz="1500" dirty="0"/>
          </a:p>
        </p:txBody>
      </p:sp>
      <p:sp>
        <p:nvSpPr>
          <p:cNvPr id="6" name="identity provider"/>
          <p:cNvSpPr/>
          <p:nvPr/>
        </p:nvSpPr>
        <p:spPr>
          <a:xfrm>
            <a:off x="548640" y="3017520"/>
            <a:ext cx="2194560" cy="822960"/>
          </a:xfrm>
          <a:prstGeom prst="roundRect">
            <a:avLst>
              <a:gd name="adj" fmla="val 8889"/>
            </a:avLst>
          </a:prstGeom>
          <a:solidFill>
            <a:srgbClr val="14213D"/>
          </a:solidFill>
          <a:ln w="12700">
            <a:solidFill>
              <a:srgbClr val="14213D"/>
            </a:solidFill>
            <a:prstDash val="solid"/>
          </a:ln>
        </p:spPr>
      </p:sp>
      <p:sp>
        <p:nvSpPr>
          <p:cNvPr id="7" name="Text 5"/>
          <p:cNvSpPr txBox="1"/>
          <p:nvPr/>
        </p:nvSpPr>
        <p:spPr>
          <a:xfrm>
            <a:off x="548640" y="3017520"/>
            <a:ext cx="219456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Keycloak (OIDC)</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dev realm in the demo</a:t>
            </a:r>
            <a:endParaRPr lang="en-US" sz="1400" dirty="0"/>
          </a:p>
        </p:txBody>
      </p:sp>
      <p:sp>
        <p:nvSpPr>
          <p:cNvPr id="8" name="application container"/>
          <p:cNvSpPr/>
          <p:nvPr/>
        </p:nvSpPr>
        <p:spPr>
          <a:xfrm>
            <a:off x="3200400" y="1371600"/>
            <a:ext cx="5852160" cy="3429000"/>
          </a:xfrm>
          <a:prstGeom prst="roundRect">
            <a:avLst>
              <a:gd name="adj" fmla="val 2667"/>
            </a:avLst>
          </a:prstGeom>
          <a:solidFill>
            <a:srgbClr val="FFFFFF"/>
          </a:solidFill>
          <a:ln w="25400">
            <a:solidFill>
              <a:srgbClr val="0F7C8A"/>
            </a:solidFill>
            <a:prstDash val="solid"/>
          </a:ln>
        </p:spPr>
      </p:sp>
      <p:sp>
        <p:nvSpPr>
          <p:cNvPr id="9" name="Text 7"/>
          <p:cNvSpPr txBox="1"/>
          <p:nvPr/>
        </p:nvSpPr>
        <p:spPr>
          <a:xfrm>
            <a:off x="3383280" y="1417320"/>
            <a:ext cx="5486400" cy="365760"/>
          </a:xfrm>
          <a:prstGeom prst="rect">
            <a:avLst/>
          </a:prstGeom>
          <a:noFill/>
          <a:ln/>
        </p:spPr>
        <p:txBody>
          <a:bodyPr wrap="square" lIns="0" tIns="0" rIns="0" bIns="0" rtlCol="0" anchor="ctr"/>
          <a:lstStyle/>
          <a:p>
            <a:pPr indent="0" marL="0">
              <a:buNone/>
            </a:pPr>
            <a:r>
              <a:rPr lang="en-US" sz="1600" b="1" dirty="0">
                <a:solidFill>
                  <a:srgbClr val="0F7C8A"/>
                </a:solidFill>
                <a:latin typeface="Cambria" pitchFamily="34" charset="0"/>
                <a:ea typeface="Cambria" pitchFamily="34" charset="-122"/>
                <a:cs typeface="Cambria" pitchFamily="34" charset="-120"/>
              </a:rPr>
              <a:t>Orqix application (Spring Boot)</a:t>
            </a:r>
            <a:endParaRPr lang="en-US" sz="1600" dirty="0"/>
          </a:p>
        </p:txBody>
      </p:sp>
      <p:sp>
        <p:nvSpPr>
          <p:cNvPr id="10" name="module Studio and catalog"/>
          <p:cNvSpPr/>
          <p:nvPr/>
        </p:nvSpPr>
        <p:spPr>
          <a:xfrm>
            <a:off x="3383280" y="1874520"/>
            <a:ext cx="2651760" cy="822960"/>
          </a:xfrm>
          <a:prstGeom prst="roundRect">
            <a:avLst>
              <a:gd name="adj" fmla="val 8889"/>
            </a:avLst>
          </a:prstGeom>
          <a:solidFill>
            <a:srgbClr val="EEF3F8"/>
          </a:solidFill>
          <a:ln w="12700">
            <a:solidFill>
              <a:srgbClr val="EEF3F8"/>
            </a:solidFill>
            <a:prstDash val="solid"/>
          </a:ln>
        </p:spPr>
      </p:sp>
      <p:sp>
        <p:nvSpPr>
          <p:cNvPr id="11" name="Text 9"/>
          <p:cNvSpPr txBox="1"/>
          <p:nvPr/>
        </p:nvSpPr>
        <p:spPr>
          <a:xfrm>
            <a:off x="3493008" y="1929384"/>
            <a:ext cx="246888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Studio and catalog</a:t>
            </a:r>
            <a:endParaRPr lang="en-US" sz="1400" dirty="0"/>
          </a:p>
        </p:txBody>
      </p:sp>
      <p:sp>
        <p:nvSpPr>
          <p:cNvPr id="12" name="Text 10"/>
          <p:cNvSpPr txBox="1"/>
          <p:nvPr/>
        </p:nvSpPr>
        <p:spPr>
          <a:xfrm>
            <a:off x="3493008" y="2295144"/>
            <a:ext cx="2468880" cy="347472"/>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workflows, releases, shared assets</a:t>
            </a:r>
            <a:endParaRPr lang="en-US" sz="1100" dirty="0"/>
          </a:p>
        </p:txBody>
      </p:sp>
      <p:sp>
        <p:nvSpPr>
          <p:cNvPr id="13" name="module Compiler"/>
          <p:cNvSpPr/>
          <p:nvPr/>
        </p:nvSpPr>
        <p:spPr>
          <a:xfrm>
            <a:off x="6172200" y="1874520"/>
            <a:ext cx="2651760" cy="822960"/>
          </a:xfrm>
          <a:prstGeom prst="roundRect">
            <a:avLst>
              <a:gd name="adj" fmla="val 8889"/>
            </a:avLst>
          </a:prstGeom>
          <a:solidFill>
            <a:srgbClr val="EEF3F8"/>
          </a:solidFill>
          <a:ln w="12700">
            <a:solidFill>
              <a:srgbClr val="EEF3F8"/>
            </a:solidFill>
            <a:prstDash val="solid"/>
          </a:ln>
        </p:spPr>
      </p:sp>
      <p:sp>
        <p:nvSpPr>
          <p:cNvPr id="14" name="Text 12"/>
          <p:cNvSpPr txBox="1"/>
          <p:nvPr/>
        </p:nvSpPr>
        <p:spPr>
          <a:xfrm>
            <a:off x="6281928" y="1929384"/>
            <a:ext cx="246888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Compiler</a:t>
            </a:r>
            <a:endParaRPr lang="en-US" sz="1400" dirty="0"/>
          </a:p>
        </p:txBody>
      </p:sp>
      <p:sp>
        <p:nvSpPr>
          <p:cNvPr id="15" name="Text 13"/>
          <p:cNvSpPr txBox="1"/>
          <p:nvPr/>
        </p:nvSpPr>
        <p:spPr>
          <a:xfrm>
            <a:off x="6281928" y="2295144"/>
            <a:ext cx="2468880" cy="347472"/>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validate, generate BPMN, simulate</a:t>
            </a:r>
            <a:endParaRPr lang="en-US" sz="1100" dirty="0"/>
          </a:p>
        </p:txBody>
      </p:sp>
      <p:sp>
        <p:nvSpPr>
          <p:cNvPr id="16" name="module Runtime and operations"/>
          <p:cNvSpPr/>
          <p:nvPr/>
        </p:nvSpPr>
        <p:spPr>
          <a:xfrm>
            <a:off x="3383280" y="2788920"/>
            <a:ext cx="2651760" cy="822960"/>
          </a:xfrm>
          <a:prstGeom prst="roundRect">
            <a:avLst>
              <a:gd name="adj" fmla="val 8889"/>
            </a:avLst>
          </a:prstGeom>
          <a:solidFill>
            <a:srgbClr val="EEF3F8"/>
          </a:solidFill>
          <a:ln w="12700">
            <a:solidFill>
              <a:srgbClr val="EEF3F8"/>
            </a:solidFill>
            <a:prstDash val="solid"/>
          </a:ln>
        </p:spPr>
      </p:sp>
      <p:sp>
        <p:nvSpPr>
          <p:cNvPr id="17" name="Text 15"/>
          <p:cNvSpPr txBox="1"/>
          <p:nvPr/>
        </p:nvSpPr>
        <p:spPr>
          <a:xfrm>
            <a:off x="3493008" y="2843784"/>
            <a:ext cx="246888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Runtime and operations</a:t>
            </a:r>
            <a:endParaRPr lang="en-US" sz="1400" dirty="0"/>
          </a:p>
        </p:txBody>
      </p:sp>
      <p:sp>
        <p:nvSpPr>
          <p:cNvPr id="18" name="Text 16"/>
          <p:cNvSpPr txBox="1"/>
          <p:nvPr/>
        </p:nvSpPr>
        <p:spPr>
          <a:xfrm>
            <a:off x="3493008" y="3209544"/>
            <a:ext cx="2468880" cy="347472"/>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Flowable, tasks, SLAs, repair</a:t>
            </a:r>
            <a:endParaRPr lang="en-US" sz="1100" dirty="0"/>
          </a:p>
        </p:txBody>
      </p:sp>
      <p:sp>
        <p:nvSpPr>
          <p:cNvPr id="19" name="module Migration workbench"/>
          <p:cNvSpPr/>
          <p:nvPr/>
        </p:nvSpPr>
        <p:spPr>
          <a:xfrm>
            <a:off x="6172200" y="2788920"/>
            <a:ext cx="2651760" cy="822960"/>
          </a:xfrm>
          <a:prstGeom prst="roundRect">
            <a:avLst>
              <a:gd name="adj" fmla="val 8889"/>
            </a:avLst>
          </a:prstGeom>
          <a:solidFill>
            <a:srgbClr val="EEF3F8"/>
          </a:solidFill>
          <a:ln w="12700">
            <a:solidFill>
              <a:srgbClr val="EEF3F8"/>
            </a:solidFill>
            <a:prstDash val="solid"/>
          </a:ln>
        </p:spPr>
      </p:sp>
      <p:sp>
        <p:nvSpPr>
          <p:cNvPr id="20" name="Text 18"/>
          <p:cNvSpPr txBox="1"/>
          <p:nvPr/>
        </p:nvSpPr>
        <p:spPr>
          <a:xfrm>
            <a:off x="6281928" y="2843784"/>
            <a:ext cx="246888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Migration workbench</a:t>
            </a:r>
            <a:endParaRPr lang="en-US" sz="1400" dirty="0"/>
          </a:p>
        </p:txBody>
      </p:sp>
      <p:sp>
        <p:nvSpPr>
          <p:cNvPr id="21" name="Text 19"/>
          <p:cNvSpPr txBox="1"/>
          <p:nvPr/>
        </p:nvSpPr>
        <p:spPr>
          <a:xfrm>
            <a:off x="6281928" y="3209544"/>
            <a:ext cx="2468880" cy="347472"/>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Camunda, Pega, Blueprint PDF</a:t>
            </a:r>
            <a:endParaRPr lang="en-US" sz="1100" dirty="0"/>
          </a:p>
        </p:txBody>
      </p:sp>
      <p:sp>
        <p:nvSpPr>
          <p:cNvPr id="22" name="module Integrations"/>
          <p:cNvSpPr/>
          <p:nvPr/>
        </p:nvSpPr>
        <p:spPr>
          <a:xfrm>
            <a:off x="3383280" y="3703320"/>
            <a:ext cx="2651760" cy="822960"/>
          </a:xfrm>
          <a:prstGeom prst="roundRect">
            <a:avLst>
              <a:gd name="adj" fmla="val 8889"/>
            </a:avLst>
          </a:prstGeom>
          <a:solidFill>
            <a:srgbClr val="EEF3F8"/>
          </a:solidFill>
          <a:ln w="12700">
            <a:solidFill>
              <a:srgbClr val="EEF3F8"/>
            </a:solidFill>
            <a:prstDash val="solid"/>
          </a:ln>
        </p:spPr>
      </p:sp>
      <p:sp>
        <p:nvSpPr>
          <p:cNvPr id="23" name="Text 21"/>
          <p:cNvSpPr txBox="1"/>
          <p:nvPr/>
        </p:nvSpPr>
        <p:spPr>
          <a:xfrm>
            <a:off x="3493008" y="3758184"/>
            <a:ext cx="246888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Integrations</a:t>
            </a:r>
            <a:endParaRPr lang="en-US" sz="1400" dirty="0"/>
          </a:p>
        </p:txBody>
      </p:sp>
      <p:sp>
        <p:nvSpPr>
          <p:cNvPr id="24" name="Text 22"/>
          <p:cNvSpPr txBox="1"/>
          <p:nvPr/>
        </p:nvSpPr>
        <p:spPr>
          <a:xfrm>
            <a:off x="3493008" y="4123944"/>
            <a:ext cx="2468880" cy="347472"/>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adapters, agent tools, MCP and A2A</a:t>
            </a:r>
            <a:endParaRPr lang="en-US" sz="1100" dirty="0"/>
          </a:p>
        </p:txBody>
      </p:sp>
      <p:sp>
        <p:nvSpPr>
          <p:cNvPr id="25" name="module Identity, access and audit"/>
          <p:cNvSpPr/>
          <p:nvPr/>
        </p:nvSpPr>
        <p:spPr>
          <a:xfrm>
            <a:off x="6172200" y="3703320"/>
            <a:ext cx="2651760" cy="822960"/>
          </a:xfrm>
          <a:prstGeom prst="roundRect">
            <a:avLst>
              <a:gd name="adj" fmla="val 8889"/>
            </a:avLst>
          </a:prstGeom>
          <a:solidFill>
            <a:srgbClr val="EEF3F8"/>
          </a:solidFill>
          <a:ln w="12700">
            <a:solidFill>
              <a:srgbClr val="EEF3F8"/>
            </a:solidFill>
            <a:prstDash val="solid"/>
          </a:ln>
        </p:spPr>
      </p:sp>
      <p:sp>
        <p:nvSpPr>
          <p:cNvPr id="26" name="Text 24"/>
          <p:cNvSpPr txBox="1"/>
          <p:nvPr/>
        </p:nvSpPr>
        <p:spPr>
          <a:xfrm>
            <a:off x="6281928" y="3758184"/>
            <a:ext cx="246888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Identity, access and audit</a:t>
            </a:r>
            <a:endParaRPr lang="en-US" sz="1400" dirty="0"/>
          </a:p>
        </p:txBody>
      </p:sp>
      <p:sp>
        <p:nvSpPr>
          <p:cNvPr id="27" name="Text 25"/>
          <p:cNvSpPr txBox="1"/>
          <p:nvPr/>
        </p:nvSpPr>
        <p:spPr>
          <a:xfrm>
            <a:off x="6281928" y="4123944"/>
            <a:ext cx="2468880" cy="347472"/>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roles, grants, audit log</a:t>
            </a:r>
            <a:endParaRPr lang="en-US" sz="1100" dirty="0"/>
          </a:p>
        </p:txBody>
      </p:sp>
      <p:sp>
        <p:nvSpPr>
          <p:cNvPr id="28" name="external Extraction worker"/>
          <p:cNvSpPr/>
          <p:nvPr/>
        </p:nvSpPr>
        <p:spPr>
          <a:xfrm>
            <a:off x="9601200" y="1371600"/>
            <a:ext cx="2057400" cy="777240"/>
          </a:xfrm>
          <a:prstGeom prst="roundRect">
            <a:avLst>
              <a:gd name="adj" fmla="val 9412"/>
            </a:avLst>
          </a:prstGeom>
          <a:solidFill>
            <a:srgbClr val="14213D"/>
          </a:solidFill>
          <a:ln w="12700">
            <a:solidFill>
              <a:srgbClr val="14213D"/>
            </a:solidFill>
            <a:prstDash val="solid"/>
          </a:ln>
        </p:spPr>
      </p:sp>
      <p:sp>
        <p:nvSpPr>
          <p:cNvPr id="29" name="Text 27"/>
          <p:cNvSpPr txBox="1"/>
          <p:nvPr/>
        </p:nvSpPr>
        <p:spPr>
          <a:xfrm>
            <a:off x="9601200" y="1417320"/>
            <a:ext cx="20574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Extraction worker</a:t>
            </a:r>
            <a:endParaRPr lang="en-US" sz="1400" dirty="0"/>
          </a:p>
        </p:txBody>
      </p:sp>
      <p:sp>
        <p:nvSpPr>
          <p:cNvPr id="30" name="Text 28"/>
          <p:cNvSpPr txBox="1"/>
          <p:nvPr/>
        </p:nvSpPr>
        <p:spPr>
          <a:xfrm>
            <a:off x="9601200" y="1783080"/>
            <a:ext cx="205740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isolated JVM, PDFBox</a:t>
            </a:r>
            <a:endParaRPr lang="en-US" sz="1100" dirty="0"/>
          </a:p>
        </p:txBody>
      </p:sp>
      <p:sp>
        <p:nvSpPr>
          <p:cNvPr id="31" name="Shape 29"/>
          <p:cNvSpPr/>
          <p:nvPr/>
        </p:nvSpPr>
        <p:spPr>
          <a:xfrm>
            <a:off x="9052560" y="1760220"/>
            <a:ext cx="548640" cy="0"/>
          </a:xfrm>
          <a:prstGeom prst="line">
            <a:avLst/>
          </a:prstGeom>
          <a:noFill/>
          <a:ln w="25400">
            <a:solidFill>
              <a:srgbClr val="9AA8B6"/>
            </a:solidFill>
            <a:prstDash val="solid"/>
            <a:tailEnd type="triangle"/>
          </a:ln>
        </p:spPr>
      </p:sp>
      <p:sp>
        <p:nvSpPr>
          <p:cNvPr id="32" name="external Systems of record"/>
          <p:cNvSpPr/>
          <p:nvPr/>
        </p:nvSpPr>
        <p:spPr>
          <a:xfrm>
            <a:off x="9601200" y="2286000"/>
            <a:ext cx="2057400" cy="777240"/>
          </a:xfrm>
          <a:prstGeom prst="roundRect">
            <a:avLst>
              <a:gd name="adj" fmla="val 9412"/>
            </a:avLst>
          </a:prstGeom>
          <a:solidFill>
            <a:srgbClr val="14213D"/>
          </a:solidFill>
          <a:ln w="12700">
            <a:solidFill>
              <a:srgbClr val="14213D"/>
            </a:solidFill>
            <a:prstDash val="solid"/>
          </a:ln>
        </p:spPr>
      </p:sp>
      <p:sp>
        <p:nvSpPr>
          <p:cNvPr id="33" name="Text 31"/>
          <p:cNvSpPr txBox="1"/>
          <p:nvPr/>
        </p:nvSpPr>
        <p:spPr>
          <a:xfrm>
            <a:off x="9601200" y="2331720"/>
            <a:ext cx="20574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Systems of record</a:t>
            </a:r>
            <a:endParaRPr lang="en-US" sz="1400" dirty="0"/>
          </a:p>
        </p:txBody>
      </p:sp>
      <p:sp>
        <p:nvSpPr>
          <p:cNvPr id="34" name="Text 32"/>
          <p:cNvSpPr txBox="1"/>
          <p:nvPr/>
        </p:nvSpPr>
        <p:spPr>
          <a:xfrm>
            <a:off x="9601200" y="2697480"/>
            <a:ext cx="205740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stubs in the demo</a:t>
            </a:r>
            <a:endParaRPr lang="en-US" sz="1100" dirty="0"/>
          </a:p>
        </p:txBody>
      </p:sp>
      <p:sp>
        <p:nvSpPr>
          <p:cNvPr id="35" name="Shape 33"/>
          <p:cNvSpPr/>
          <p:nvPr/>
        </p:nvSpPr>
        <p:spPr>
          <a:xfrm>
            <a:off x="9052560" y="2674620"/>
            <a:ext cx="548640" cy="0"/>
          </a:xfrm>
          <a:prstGeom prst="line">
            <a:avLst/>
          </a:prstGeom>
          <a:noFill/>
          <a:ln w="25400">
            <a:solidFill>
              <a:srgbClr val="9AA8B6"/>
            </a:solidFill>
            <a:prstDash val="solid"/>
            <a:tailEnd type="triangle"/>
          </a:ln>
        </p:spPr>
      </p:sp>
      <p:sp>
        <p:nvSpPr>
          <p:cNvPr id="36" name="external AI provider"/>
          <p:cNvSpPr/>
          <p:nvPr/>
        </p:nvSpPr>
        <p:spPr>
          <a:xfrm>
            <a:off x="9601200" y="3200400"/>
            <a:ext cx="2057400" cy="777240"/>
          </a:xfrm>
          <a:prstGeom prst="roundRect">
            <a:avLst>
              <a:gd name="adj" fmla="val 9412"/>
            </a:avLst>
          </a:prstGeom>
          <a:solidFill>
            <a:srgbClr val="14213D"/>
          </a:solidFill>
          <a:ln w="12700">
            <a:solidFill>
              <a:srgbClr val="14213D"/>
            </a:solidFill>
            <a:prstDash val="solid"/>
          </a:ln>
        </p:spPr>
      </p:sp>
      <p:sp>
        <p:nvSpPr>
          <p:cNvPr id="37" name="Text 35"/>
          <p:cNvSpPr txBox="1"/>
          <p:nvPr/>
        </p:nvSpPr>
        <p:spPr>
          <a:xfrm>
            <a:off x="9601200" y="3246120"/>
            <a:ext cx="20574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 provider</a:t>
            </a:r>
            <a:endParaRPr lang="en-US" sz="1400" dirty="0"/>
          </a:p>
        </p:txBody>
      </p:sp>
      <p:sp>
        <p:nvSpPr>
          <p:cNvPr id="38" name="Text 36"/>
          <p:cNvSpPr txBox="1"/>
          <p:nvPr/>
        </p:nvSpPr>
        <p:spPr>
          <a:xfrm>
            <a:off x="9601200" y="3611880"/>
            <a:ext cx="205740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optional, OpenRouter</a:t>
            </a:r>
            <a:endParaRPr lang="en-US" sz="1100" dirty="0"/>
          </a:p>
        </p:txBody>
      </p:sp>
      <p:sp>
        <p:nvSpPr>
          <p:cNvPr id="39" name="Shape 37"/>
          <p:cNvSpPr/>
          <p:nvPr/>
        </p:nvSpPr>
        <p:spPr>
          <a:xfrm>
            <a:off x="9052560" y="3589020"/>
            <a:ext cx="548640" cy="0"/>
          </a:xfrm>
          <a:prstGeom prst="line">
            <a:avLst/>
          </a:prstGeom>
          <a:noFill/>
          <a:ln w="25400">
            <a:solidFill>
              <a:srgbClr val="9AA8B6"/>
            </a:solidFill>
            <a:prstDash val="solid"/>
            <a:tailEnd type="triangle"/>
          </a:ln>
        </p:spPr>
      </p:sp>
      <p:sp>
        <p:nvSpPr>
          <p:cNvPr id="40" name="external External workers"/>
          <p:cNvSpPr/>
          <p:nvPr/>
        </p:nvSpPr>
        <p:spPr>
          <a:xfrm>
            <a:off x="9601200" y="4114800"/>
            <a:ext cx="2057400" cy="777240"/>
          </a:xfrm>
          <a:prstGeom prst="roundRect">
            <a:avLst>
              <a:gd name="adj" fmla="val 9412"/>
            </a:avLst>
          </a:prstGeom>
          <a:solidFill>
            <a:srgbClr val="14213D"/>
          </a:solidFill>
          <a:ln w="12700">
            <a:solidFill>
              <a:srgbClr val="14213D"/>
            </a:solidFill>
            <a:prstDash val="solid"/>
          </a:ln>
        </p:spPr>
      </p:sp>
      <p:sp>
        <p:nvSpPr>
          <p:cNvPr id="41" name="Text 39"/>
          <p:cNvSpPr txBox="1"/>
          <p:nvPr/>
        </p:nvSpPr>
        <p:spPr>
          <a:xfrm>
            <a:off x="9601200" y="4160520"/>
            <a:ext cx="20574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External workers</a:t>
            </a:r>
            <a:endParaRPr lang="en-US" sz="1400" dirty="0"/>
          </a:p>
        </p:txBody>
      </p:sp>
      <p:sp>
        <p:nvSpPr>
          <p:cNvPr id="42" name="Text 40"/>
          <p:cNvSpPr txBox="1"/>
          <p:nvPr/>
        </p:nvSpPr>
        <p:spPr>
          <a:xfrm>
            <a:off x="9601200" y="4526280"/>
            <a:ext cx="205740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Python SDK gateway</a:t>
            </a:r>
            <a:endParaRPr lang="en-US" sz="1100" dirty="0"/>
          </a:p>
        </p:txBody>
      </p:sp>
      <p:sp>
        <p:nvSpPr>
          <p:cNvPr id="43" name="Shape 41"/>
          <p:cNvSpPr/>
          <p:nvPr/>
        </p:nvSpPr>
        <p:spPr>
          <a:xfrm>
            <a:off x="9052560" y="4503420"/>
            <a:ext cx="548640" cy="0"/>
          </a:xfrm>
          <a:prstGeom prst="line">
            <a:avLst/>
          </a:prstGeom>
          <a:noFill/>
          <a:ln w="25400">
            <a:solidFill>
              <a:srgbClr val="9AA8B6"/>
            </a:solidFill>
            <a:prstDash val="solid"/>
            <a:tailEnd type="triangle"/>
          </a:ln>
        </p:spPr>
      </p:sp>
      <p:sp>
        <p:nvSpPr>
          <p:cNvPr id="44" name="Shape 42"/>
          <p:cNvSpPr/>
          <p:nvPr/>
        </p:nvSpPr>
        <p:spPr>
          <a:xfrm>
            <a:off x="2743200" y="1874520"/>
            <a:ext cx="457200" cy="0"/>
          </a:xfrm>
          <a:prstGeom prst="line">
            <a:avLst/>
          </a:prstGeom>
          <a:noFill/>
          <a:ln w="25400">
            <a:solidFill>
              <a:srgbClr val="9AA8B6"/>
            </a:solidFill>
            <a:prstDash val="solid"/>
            <a:tailEnd type="triangle"/>
          </a:ln>
        </p:spPr>
      </p:sp>
      <p:sp>
        <p:nvSpPr>
          <p:cNvPr id="45" name="Shape 43"/>
          <p:cNvSpPr/>
          <p:nvPr/>
        </p:nvSpPr>
        <p:spPr>
          <a:xfrm flipH="1">
            <a:off x="2743200" y="3429000"/>
            <a:ext cx="457200" cy="0"/>
          </a:xfrm>
          <a:prstGeom prst="line">
            <a:avLst/>
          </a:prstGeom>
          <a:noFill/>
          <a:ln w="25400">
            <a:solidFill>
              <a:srgbClr val="9AA8B6"/>
            </a:solidFill>
            <a:prstDash val="solid"/>
            <a:tailEnd type="triangle"/>
          </a:ln>
        </p:spPr>
      </p:sp>
      <p:sp>
        <p:nvSpPr>
          <p:cNvPr id="46" name="database"/>
          <p:cNvSpPr/>
          <p:nvPr/>
        </p:nvSpPr>
        <p:spPr>
          <a:xfrm>
            <a:off x="3200400" y="5166360"/>
            <a:ext cx="5852160" cy="777240"/>
          </a:xfrm>
          <a:prstGeom prst="roundRect">
            <a:avLst>
              <a:gd name="adj" fmla="val 9412"/>
            </a:avLst>
          </a:prstGeom>
          <a:solidFill>
            <a:srgbClr val="0F7C8A"/>
          </a:solidFill>
          <a:ln w="12700">
            <a:solidFill>
              <a:srgbClr val="0F7C8A"/>
            </a:solidFill>
            <a:prstDash val="solid"/>
          </a:ln>
        </p:spPr>
      </p:sp>
      <p:sp>
        <p:nvSpPr>
          <p:cNvPr id="47" name="Text 45"/>
          <p:cNvSpPr txBox="1"/>
          <p:nvPr/>
        </p:nvSpPr>
        <p:spPr>
          <a:xfrm>
            <a:off x="3200400" y="5166360"/>
            <a:ext cx="585216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PostgreSQL 18: schema orqix and schema flowable; migrations V1 to V155</a:t>
            </a:r>
            <a:endParaRPr lang="en-US" sz="1400" dirty="0"/>
          </a:p>
        </p:txBody>
      </p:sp>
      <p:sp>
        <p:nvSpPr>
          <p:cNvPr id="48" name="Shape 46"/>
          <p:cNvSpPr/>
          <p:nvPr/>
        </p:nvSpPr>
        <p:spPr>
          <a:xfrm>
            <a:off x="6126480" y="4800600"/>
            <a:ext cx="0" cy="365760"/>
          </a:xfrm>
          <a:prstGeom prst="line">
            <a:avLst/>
          </a:prstGeom>
          <a:noFill/>
          <a:ln w="25400">
            <a:solidFill>
              <a:srgbClr val="9AA8B6"/>
            </a:solidFill>
            <a:prstDash val="solid"/>
            <a:tailEnd type="triangle"/>
          </a:ln>
        </p:spPr>
      </p:sp>
      <p:sp>
        <p:nvSpPr>
          <p:cNvPr id="49" name="Text 47"/>
          <p:cNvSpPr txBox="1"/>
          <p:nvPr/>
        </p:nvSpPr>
        <p:spPr>
          <a:xfrm>
            <a:off x="548640" y="6172200"/>
            <a:ext cx="11064240" cy="320040"/>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Deployed with Compose or OpenShift. Sessions live in PostgreSQL, so replicas need no sticky sessions.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3400" b="1" dirty="0">
                <a:solidFill>
                  <a:srgbClr val="14213D"/>
                </a:solidFill>
                <a:latin typeface="Cambria" pitchFamily="34" charset="0"/>
                <a:ea typeface="Cambria" pitchFamily="34" charset="-122"/>
                <a:cs typeface="Cambria" pitchFamily="34" charset="-120"/>
              </a:rPr>
              <a:t>Sequence: Blueprint PDF to a completed request</a:t>
            </a:r>
            <a:endParaRPr lang="en-US" sz="34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600" dirty="0">
                <a:solidFill>
                  <a:srgbClr val="5B6B7B"/>
                </a:solidFill>
                <a:latin typeface="Calibri" pitchFamily="34" charset="0"/>
                <a:ea typeface="Calibri" pitchFamily="34" charset="-122"/>
                <a:cs typeface="Calibri" pitchFamily="34" charset="-120"/>
              </a:rPr>
              <a:t>Synthetic sample; an amount of 5,000 or more adds a Finance task</a:t>
            </a:r>
            <a:endParaRPr lang="en-US" sz="1600" dirty="0"/>
          </a:p>
        </p:txBody>
      </p:sp>
      <p:sp>
        <p:nvSpPr>
          <p:cNvPr id="4" name="participant 0"/>
          <p:cNvSpPr/>
          <p:nvPr/>
        </p:nvSpPr>
        <p:spPr>
          <a:xfrm>
            <a:off x="502920" y="1417320"/>
            <a:ext cx="1554480" cy="548640"/>
          </a:xfrm>
          <a:prstGeom prst="roundRect">
            <a:avLst>
              <a:gd name="adj" fmla="val 13333"/>
            </a:avLst>
          </a:prstGeom>
          <a:solidFill>
            <a:srgbClr val="14213D"/>
          </a:solidFill>
          <a:ln w="12700">
            <a:solidFill>
              <a:srgbClr val="14213D"/>
            </a:solidFill>
            <a:prstDash val="solid"/>
          </a:ln>
        </p:spPr>
      </p:sp>
      <p:sp>
        <p:nvSpPr>
          <p:cNvPr id="5" name="Text 3"/>
          <p:cNvSpPr txBox="1"/>
          <p:nvPr/>
        </p:nvSpPr>
        <p:spPr>
          <a:xfrm>
            <a:off x="502920" y="141732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Dana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Designer</a:t>
            </a:r>
            <a:endParaRPr lang="en-US" sz="1200" dirty="0"/>
          </a:p>
        </p:txBody>
      </p:sp>
      <p:sp>
        <p:nvSpPr>
          <p:cNvPr id="6" name="Shape 4"/>
          <p:cNvSpPr/>
          <p:nvPr/>
        </p:nvSpPr>
        <p:spPr>
          <a:xfrm>
            <a:off x="1280160" y="1965960"/>
            <a:ext cx="0" cy="4343400"/>
          </a:xfrm>
          <a:prstGeom prst="line">
            <a:avLst/>
          </a:prstGeom>
          <a:noFill/>
          <a:ln w="15875">
            <a:solidFill>
              <a:srgbClr val="9AA8B6"/>
            </a:solidFill>
            <a:prstDash val="dash"/>
          </a:ln>
        </p:spPr>
      </p:sp>
      <p:sp>
        <p:nvSpPr>
          <p:cNvPr id="7" name="participant 1"/>
          <p:cNvSpPr/>
          <p:nvPr/>
        </p:nvSpPr>
        <p:spPr>
          <a:xfrm>
            <a:off x="2423160" y="1417320"/>
            <a:ext cx="1554480" cy="548640"/>
          </a:xfrm>
          <a:prstGeom prst="roundRect">
            <a:avLst>
              <a:gd name="adj" fmla="val 13333"/>
            </a:avLst>
          </a:prstGeom>
          <a:solidFill>
            <a:srgbClr val="14213D"/>
          </a:solidFill>
          <a:ln w="12700">
            <a:solidFill>
              <a:srgbClr val="14213D"/>
            </a:solidFill>
            <a:prstDash val="solid"/>
          </a:ln>
        </p:spPr>
      </p:sp>
      <p:sp>
        <p:nvSpPr>
          <p:cNvPr id="8" name="Text 6"/>
          <p:cNvSpPr txBox="1"/>
          <p:nvPr/>
        </p:nvSpPr>
        <p:spPr>
          <a:xfrm>
            <a:off x="2423160" y="141732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Orqix app</a:t>
            </a:r>
            <a:endParaRPr lang="en-US" sz="1200" dirty="0"/>
          </a:p>
        </p:txBody>
      </p:sp>
      <p:sp>
        <p:nvSpPr>
          <p:cNvPr id="9" name="Shape 7"/>
          <p:cNvSpPr/>
          <p:nvPr/>
        </p:nvSpPr>
        <p:spPr>
          <a:xfrm>
            <a:off x="3200400" y="1965960"/>
            <a:ext cx="0" cy="4343400"/>
          </a:xfrm>
          <a:prstGeom prst="line">
            <a:avLst/>
          </a:prstGeom>
          <a:noFill/>
          <a:ln w="15875">
            <a:solidFill>
              <a:srgbClr val="9AA8B6"/>
            </a:solidFill>
            <a:prstDash val="dash"/>
          </a:ln>
        </p:spPr>
      </p:sp>
      <p:sp>
        <p:nvSpPr>
          <p:cNvPr id="10" name="participant 2"/>
          <p:cNvSpPr/>
          <p:nvPr/>
        </p:nvSpPr>
        <p:spPr>
          <a:xfrm>
            <a:off x="4343400" y="1417320"/>
            <a:ext cx="1554480" cy="548640"/>
          </a:xfrm>
          <a:prstGeom prst="roundRect">
            <a:avLst>
              <a:gd name="adj" fmla="val 13333"/>
            </a:avLst>
          </a:prstGeom>
          <a:solidFill>
            <a:srgbClr val="14213D"/>
          </a:solidFill>
          <a:ln w="12700">
            <a:solidFill>
              <a:srgbClr val="14213D"/>
            </a:solidFill>
            <a:prstDash val="solid"/>
          </a:ln>
        </p:spPr>
      </p:sp>
      <p:sp>
        <p:nvSpPr>
          <p:cNvPr id="11" name="Text 9"/>
          <p:cNvSpPr txBox="1"/>
          <p:nvPr/>
        </p:nvSpPr>
        <p:spPr>
          <a:xfrm>
            <a:off x="4343400" y="141732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Extraction</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worker</a:t>
            </a:r>
            <a:endParaRPr lang="en-US" sz="1200" dirty="0"/>
          </a:p>
        </p:txBody>
      </p:sp>
      <p:sp>
        <p:nvSpPr>
          <p:cNvPr id="12" name="Shape 10"/>
          <p:cNvSpPr/>
          <p:nvPr/>
        </p:nvSpPr>
        <p:spPr>
          <a:xfrm>
            <a:off x="5120640" y="1965960"/>
            <a:ext cx="0" cy="4343400"/>
          </a:xfrm>
          <a:prstGeom prst="line">
            <a:avLst/>
          </a:prstGeom>
          <a:noFill/>
          <a:ln w="15875">
            <a:solidFill>
              <a:srgbClr val="9AA8B6"/>
            </a:solidFill>
            <a:prstDash val="dash"/>
          </a:ln>
        </p:spPr>
      </p:sp>
      <p:sp>
        <p:nvSpPr>
          <p:cNvPr id="13" name="participant 3"/>
          <p:cNvSpPr/>
          <p:nvPr/>
        </p:nvSpPr>
        <p:spPr>
          <a:xfrm>
            <a:off x="6263640" y="1417320"/>
            <a:ext cx="1554480" cy="548640"/>
          </a:xfrm>
          <a:prstGeom prst="roundRect">
            <a:avLst>
              <a:gd name="adj" fmla="val 13333"/>
            </a:avLst>
          </a:prstGeom>
          <a:solidFill>
            <a:srgbClr val="14213D"/>
          </a:solidFill>
          <a:ln w="12700">
            <a:solidFill>
              <a:srgbClr val="14213D"/>
            </a:solidFill>
            <a:prstDash val="solid"/>
          </a:ln>
        </p:spPr>
      </p:sp>
      <p:sp>
        <p:nvSpPr>
          <p:cNvPr id="14" name="Text 12"/>
          <p:cNvSpPr txBox="1"/>
          <p:nvPr/>
        </p:nvSpPr>
        <p:spPr>
          <a:xfrm>
            <a:off x="6263640" y="141732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Paul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Publisher</a:t>
            </a:r>
            <a:endParaRPr lang="en-US" sz="1200" dirty="0"/>
          </a:p>
        </p:txBody>
      </p:sp>
      <p:sp>
        <p:nvSpPr>
          <p:cNvPr id="15" name="Shape 13"/>
          <p:cNvSpPr/>
          <p:nvPr/>
        </p:nvSpPr>
        <p:spPr>
          <a:xfrm>
            <a:off x="7040880" y="1965960"/>
            <a:ext cx="0" cy="4343400"/>
          </a:xfrm>
          <a:prstGeom prst="line">
            <a:avLst/>
          </a:prstGeom>
          <a:noFill/>
          <a:ln w="15875">
            <a:solidFill>
              <a:srgbClr val="9AA8B6"/>
            </a:solidFill>
            <a:prstDash val="dash"/>
          </a:ln>
        </p:spPr>
      </p:sp>
      <p:sp>
        <p:nvSpPr>
          <p:cNvPr id="16" name="participant 4"/>
          <p:cNvSpPr/>
          <p:nvPr/>
        </p:nvSpPr>
        <p:spPr>
          <a:xfrm>
            <a:off x="8183880" y="1417320"/>
            <a:ext cx="1554480" cy="548640"/>
          </a:xfrm>
          <a:prstGeom prst="roundRect">
            <a:avLst>
              <a:gd name="adj" fmla="val 13333"/>
            </a:avLst>
          </a:prstGeom>
          <a:solidFill>
            <a:srgbClr val="14213D"/>
          </a:solidFill>
          <a:ln w="12700">
            <a:solidFill>
              <a:srgbClr val="14213D"/>
            </a:solidFill>
            <a:prstDash val="solid"/>
          </a:ln>
        </p:spPr>
      </p:sp>
      <p:sp>
        <p:nvSpPr>
          <p:cNvPr id="17" name="Text 15"/>
          <p:cNvSpPr txBox="1"/>
          <p:nvPr/>
        </p:nvSpPr>
        <p:spPr>
          <a:xfrm>
            <a:off x="8183880" y="141732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Rhea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Requester</a:t>
            </a:r>
            <a:endParaRPr lang="en-US" sz="1200" dirty="0"/>
          </a:p>
        </p:txBody>
      </p:sp>
      <p:sp>
        <p:nvSpPr>
          <p:cNvPr id="18" name="Shape 16"/>
          <p:cNvSpPr/>
          <p:nvPr/>
        </p:nvSpPr>
        <p:spPr>
          <a:xfrm>
            <a:off x="8961120" y="1965960"/>
            <a:ext cx="0" cy="4343400"/>
          </a:xfrm>
          <a:prstGeom prst="line">
            <a:avLst/>
          </a:prstGeom>
          <a:noFill/>
          <a:ln w="15875">
            <a:solidFill>
              <a:srgbClr val="9AA8B6"/>
            </a:solidFill>
            <a:prstDash val="dash"/>
          </a:ln>
        </p:spPr>
      </p:sp>
      <p:sp>
        <p:nvSpPr>
          <p:cNvPr id="19" name="participant 5"/>
          <p:cNvSpPr/>
          <p:nvPr/>
        </p:nvSpPr>
        <p:spPr>
          <a:xfrm>
            <a:off x="10104120" y="1417320"/>
            <a:ext cx="1554480" cy="548640"/>
          </a:xfrm>
          <a:prstGeom prst="roundRect">
            <a:avLst>
              <a:gd name="adj" fmla="val 13333"/>
            </a:avLst>
          </a:prstGeom>
          <a:solidFill>
            <a:srgbClr val="14213D"/>
          </a:solidFill>
          <a:ln w="12700">
            <a:solidFill>
              <a:srgbClr val="14213D"/>
            </a:solidFill>
            <a:prstDash val="solid"/>
          </a:ln>
        </p:spPr>
      </p:sp>
      <p:sp>
        <p:nvSpPr>
          <p:cNvPr id="20" name="Text 18"/>
          <p:cNvSpPr txBox="1"/>
          <p:nvPr/>
        </p:nvSpPr>
        <p:spPr>
          <a:xfrm>
            <a:off x="10104120" y="141732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Mani</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21" name="Shape 19"/>
          <p:cNvSpPr/>
          <p:nvPr/>
        </p:nvSpPr>
        <p:spPr>
          <a:xfrm>
            <a:off x="10881360" y="1965960"/>
            <a:ext cx="0" cy="4343400"/>
          </a:xfrm>
          <a:prstGeom prst="line">
            <a:avLst/>
          </a:prstGeom>
          <a:noFill/>
          <a:ln w="15875">
            <a:solidFill>
              <a:srgbClr val="9AA8B6"/>
            </a:solidFill>
            <a:prstDash val="dash"/>
          </a:ln>
        </p:spPr>
      </p:sp>
      <p:sp>
        <p:nvSpPr>
          <p:cNvPr id="22" name="Shape 20"/>
          <p:cNvSpPr/>
          <p:nvPr/>
        </p:nvSpPr>
        <p:spPr>
          <a:xfrm>
            <a:off x="1280160" y="2331720"/>
            <a:ext cx="1920240" cy="0"/>
          </a:xfrm>
          <a:prstGeom prst="line">
            <a:avLst/>
          </a:prstGeom>
          <a:noFill/>
          <a:ln w="25400">
            <a:solidFill>
              <a:srgbClr val="14213D"/>
            </a:solidFill>
            <a:prstDash val="solid"/>
            <a:tailEnd type="triangle"/>
          </a:ln>
        </p:spPr>
      </p:sp>
      <p:sp>
        <p:nvSpPr>
          <p:cNvPr id="23" name="Text 21"/>
          <p:cNvSpPr txBox="1"/>
          <p:nvPr/>
        </p:nvSpPr>
        <p:spPr>
          <a:xfrm>
            <a:off x="1371600" y="2057400"/>
            <a:ext cx="1737360"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Upload Blueprint PDF</a:t>
            </a:r>
            <a:endParaRPr lang="en-US" sz="1100" dirty="0"/>
          </a:p>
        </p:txBody>
      </p:sp>
      <p:sp>
        <p:nvSpPr>
          <p:cNvPr id="24" name="Shape 22"/>
          <p:cNvSpPr/>
          <p:nvPr/>
        </p:nvSpPr>
        <p:spPr>
          <a:xfrm>
            <a:off x="3200400" y="2697480"/>
            <a:ext cx="1920240" cy="0"/>
          </a:xfrm>
          <a:prstGeom prst="line">
            <a:avLst/>
          </a:prstGeom>
          <a:noFill/>
          <a:ln w="25400">
            <a:solidFill>
              <a:srgbClr val="14213D"/>
            </a:solidFill>
            <a:prstDash val="solid"/>
            <a:tailEnd type="triangle"/>
          </a:ln>
        </p:spPr>
      </p:sp>
      <p:sp>
        <p:nvSpPr>
          <p:cNvPr id="25" name="Text 23"/>
          <p:cNvSpPr txBox="1"/>
          <p:nvPr/>
        </p:nvSpPr>
        <p:spPr>
          <a:xfrm>
            <a:off x="3291840" y="2423160"/>
            <a:ext cx="1737360"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Extract text per page</a:t>
            </a:r>
            <a:endParaRPr lang="en-US" sz="1100" dirty="0"/>
          </a:p>
        </p:txBody>
      </p:sp>
      <p:sp>
        <p:nvSpPr>
          <p:cNvPr id="26" name="Shape 24"/>
          <p:cNvSpPr/>
          <p:nvPr/>
        </p:nvSpPr>
        <p:spPr>
          <a:xfrm flipH="1">
            <a:off x="3200400" y="3063240"/>
            <a:ext cx="1920240" cy="0"/>
          </a:xfrm>
          <a:prstGeom prst="line">
            <a:avLst/>
          </a:prstGeom>
          <a:noFill/>
          <a:ln w="25400">
            <a:solidFill>
              <a:srgbClr val="0F7C8A"/>
            </a:solidFill>
            <a:prstDash val="dash"/>
            <a:tailEnd type="triangle"/>
          </a:ln>
        </p:spPr>
      </p:sp>
      <p:sp>
        <p:nvSpPr>
          <p:cNvPr id="27" name="Text 25"/>
          <p:cNvSpPr txBox="1"/>
          <p:nvPr/>
        </p:nvSpPr>
        <p:spPr>
          <a:xfrm>
            <a:off x="3362706" y="2788920"/>
            <a:ext cx="1595628"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Pages and SHA-256</a:t>
            </a:r>
            <a:endParaRPr lang="en-US" sz="1100" dirty="0"/>
          </a:p>
        </p:txBody>
      </p:sp>
      <p:sp>
        <p:nvSpPr>
          <p:cNvPr id="28" name="Shape 26"/>
          <p:cNvSpPr/>
          <p:nvPr/>
        </p:nvSpPr>
        <p:spPr>
          <a:xfrm flipH="1">
            <a:off x="1280160" y="3429000"/>
            <a:ext cx="1920240" cy="0"/>
          </a:xfrm>
          <a:prstGeom prst="line">
            <a:avLst/>
          </a:prstGeom>
          <a:noFill/>
          <a:ln w="25400">
            <a:solidFill>
              <a:srgbClr val="0F7C8A"/>
            </a:solidFill>
            <a:prstDash val="dash"/>
            <a:tailEnd type="triangle"/>
          </a:ln>
        </p:spPr>
      </p:sp>
      <p:sp>
        <p:nvSpPr>
          <p:cNvPr id="29" name="Text 27"/>
          <p:cNvSpPr txBox="1"/>
          <p:nvPr/>
        </p:nvSpPr>
        <p:spPr>
          <a:xfrm>
            <a:off x="1371600" y="3154680"/>
            <a:ext cx="1737360"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Transcription and findings</a:t>
            </a:r>
            <a:endParaRPr lang="en-US" sz="1100" dirty="0"/>
          </a:p>
        </p:txBody>
      </p:sp>
      <p:sp>
        <p:nvSpPr>
          <p:cNvPr id="30" name="Shape 28"/>
          <p:cNvSpPr/>
          <p:nvPr/>
        </p:nvSpPr>
        <p:spPr>
          <a:xfrm>
            <a:off x="1280160" y="3794760"/>
            <a:ext cx="1920240" cy="0"/>
          </a:xfrm>
          <a:prstGeom prst="line">
            <a:avLst/>
          </a:prstGeom>
          <a:noFill/>
          <a:ln w="25400">
            <a:solidFill>
              <a:srgbClr val="14213D"/>
            </a:solidFill>
            <a:prstDash val="solid"/>
            <a:tailEnd type="triangle"/>
          </a:ln>
        </p:spPr>
      </p:sp>
      <p:sp>
        <p:nvSpPr>
          <p:cNvPr id="31" name="Text 29"/>
          <p:cNvSpPr txBox="1"/>
          <p:nvPr/>
        </p:nvSpPr>
        <p:spPr>
          <a:xfrm>
            <a:off x="1371600" y="3520440"/>
            <a:ext cx="1737360"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Edit, map roles, review</a:t>
            </a:r>
            <a:endParaRPr lang="en-US" sz="1100" dirty="0"/>
          </a:p>
        </p:txBody>
      </p:sp>
      <p:sp>
        <p:nvSpPr>
          <p:cNvPr id="32" name="Shape 30"/>
          <p:cNvSpPr/>
          <p:nvPr/>
        </p:nvSpPr>
        <p:spPr>
          <a:xfrm>
            <a:off x="1280160" y="4160520"/>
            <a:ext cx="1920240" cy="0"/>
          </a:xfrm>
          <a:prstGeom prst="line">
            <a:avLst/>
          </a:prstGeom>
          <a:noFill/>
          <a:ln w="25400">
            <a:solidFill>
              <a:srgbClr val="14213D"/>
            </a:solidFill>
            <a:prstDash val="solid"/>
            <a:tailEnd type="triangle"/>
          </a:ln>
        </p:spPr>
      </p:sp>
      <p:sp>
        <p:nvSpPr>
          <p:cNvPr id="33" name="Text 31"/>
          <p:cNvSpPr txBox="1"/>
          <p:nvPr/>
        </p:nvSpPr>
        <p:spPr>
          <a:xfrm>
            <a:off x="1371600" y="3886200"/>
            <a:ext cx="1737360"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Convert (compiler checks)</a:t>
            </a:r>
            <a:endParaRPr lang="en-US" sz="1100" dirty="0"/>
          </a:p>
        </p:txBody>
      </p:sp>
      <p:sp>
        <p:nvSpPr>
          <p:cNvPr id="34" name="Shape 32"/>
          <p:cNvSpPr/>
          <p:nvPr/>
        </p:nvSpPr>
        <p:spPr>
          <a:xfrm flipH="1">
            <a:off x="3200400" y="4526280"/>
            <a:ext cx="3840480" cy="0"/>
          </a:xfrm>
          <a:prstGeom prst="line">
            <a:avLst/>
          </a:prstGeom>
          <a:noFill/>
          <a:ln w="25400">
            <a:solidFill>
              <a:srgbClr val="14213D"/>
            </a:solidFill>
            <a:prstDash val="solid"/>
            <a:tailEnd type="triangle"/>
          </a:ln>
        </p:spPr>
      </p:sp>
      <p:sp>
        <p:nvSpPr>
          <p:cNvPr id="35" name="Text 33"/>
          <p:cNvSpPr txBox="1"/>
          <p:nvPr/>
        </p:nvSpPr>
        <p:spPr>
          <a:xfrm>
            <a:off x="4400550" y="4251960"/>
            <a:ext cx="1440180"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Publish release</a:t>
            </a:r>
            <a:endParaRPr lang="en-US" sz="1100" dirty="0"/>
          </a:p>
        </p:txBody>
      </p:sp>
      <p:sp>
        <p:nvSpPr>
          <p:cNvPr id="36" name="Shape 34"/>
          <p:cNvSpPr/>
          <p:nvPr/>
        </p:nvSpPr>
        <p:spPr>
          <a:xfrm flipH="1">
            <a:off x="3200400" y="4892040"/>
            <a:ext cx="5760720" cy="0"/>
          </a:xfrm>
          <a:prstGeom prst="line">
            <a:avLst/>
          </a:prstGeom>
          <a:noFill/>
          <a:ln w="25400">
            <a:solidFill>
              <a:srgbClr val="14213D"/>
            </a:solidFill>
            <a:prstDash val="solid"/>
            <a:tailEnd type="triangle"/>
          </a:ln>
        </p:spPr>
      </p:sp>
      <p:sp>
        <p:nvSpPr>
          <p:cNvPr id="37" name="Text 35"/>
          <p:cNvSpPr txBox="1"/>
          <p:nvPr/>
        </p:nvSpPr>
        <p:spPr>
          <a:xfrm>
            <a:off x="5438394" y="4617720"/>
            <a:ext cx="1284732"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Start request</a:t>
            </a:r>
            <a:endParaRPr lang="en-US" sz="1100" dirty="0"/>
          </a:p>
        </p:txBody>
      </p:sp>
      <p:sp>
        <p:nvSpPr>
          <p:cNvPr id="38" name="Shape 36"/>
          <p:cNvSpPr/>
          <p:nvPr/>
        </p:nvSpPr>
        <p:spPr>
          <a:xfrm>
            <a:off x="3200400" y="5257800"/>
            <a:ext cx="7680960" cy="0"/>
          </a:xfrm>
          <a:prstGeom prst="line">
            <a:avLst/>
          </a:prstGeom>
          <a:noFill/>
          <a:ln w="25400">
            <a:solidFill>
              <a:srgbClr val="14213D"/>
            </a:solidFill>
            <a:prstDash val="solid"/>
            <a:tailEnd type="triangle"/>
          </a:ln>
        </p:spPr>
      </p:sp>
      <p:sp>
        <p:nvSpPr>
          <p:cNvPr id="39" name="Text 37"/>
          <p:cNvSpPr txBox="1"/>
          <p:nvPr/>
        </p:nvSpPr>
        <p:spPr>
          <a:xfrm>
            <a:off x="6126480" y="4983480"/>
            <a:ext cx="1828800"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Task: review request</a:t>
            </a:r>
            <a:endParaRPr lang="en-US" sz="1100" dirty="0"/>
          </a:p>
        </p:txBody>
      </p:sp>
      <p:sp>
        <p:nvSpPr>
          <p:cNvPr id="40" name="Shape 38"/>
          <p:cNvSpPr/>
          <p:nvPr/>
        </p:nvSpPr>
        <p:spPr>
          <a:xfrm flipH="1">
            <a:off x="3200400" y="5623560"/>
            <a:ext cx="7680960" cy="0"/>
          </a:xfrm>
          <a:prstGeom prst="line">
            <a:avLst/>
          </a:prstGeom>
          <a:noFill/>
          <a:ln w="25400">
            <a:solidFill>
              <a:srgbClr val="0F7C8A"/>
            </a:solidFill>
            <a:prstDash val="dash"/>
            <a:tailEnd type="triangle"/>
          </a:ln>
        </p:spPr>
      </p:sp>
      <p:sp>
        <p:nvSpPr>
          <p:cNvPr id="41" name="Text 39"/>
          <p:cNvSpPr txBox="1"/>
          <p:nvPr/>
        </p:nvSpPr>
        <p:spPr>
          <a:xfrm>
            <a:off x="6631686" y="5349240"/>
            <a:ext cx="818388"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Approve</a:t>
            </a:r>
            <a:endParaRPr lang="en-US" sz="1100" dirty="0"/>
          </a:p>
        </p:txBody>
      </p:sp>
      <p:sp>
        <p:nvSpPr>
          <p:cNvPr id="42" name="Shape 40"/>
          <p:cNvSpPr/>
          <p:nvPr/>
        </p:nvSpPr>
        <p:spPr>
          <a:xfrm>
            <a:off x="3200400" y="5989320"/>
            <a:ext cx="5760720" cy="0"/>
          </a:xfrm>
          <a:prstGeom prst="line">
            <a:avLst/>
          </a:prstGeom>
          <a:noFill/>
          <a:ln w="25400">
            <a:solidFill>
              <a:srgbClr val="0F7C8A"/>
            </a:solidFill>
            <a:prstDash val="dash"/>
            <a:tailEnd type="triangle"/>
          </a:ln>
        </p:spPr>
      </p:sp>
      <p:sp>
        <p:nvSpPr>
          <p:cNvPr id="43" name="Text 41"/>
          <p:cNvSpPr txBox="1"/>
          <p:nvPr/>
        </p:nvSpPr>
        <p:spPr>
          <a:xfrm>
            <a:off x="5205222" y="5715000"/>
            <a:ext cx="1751076" cy="237744"/>
          </a:xfrm>
          <a:prstGeom prst="rect">
            <a:avLst/>
          </a:prstGeom>
          <a:solidFill>
            <a:srgbClr val="FFFFFF"/>
          </a:solidFill>
          <a:ln/>
        </p:spPr>
        <p:txBody>
          <a:bodyPr wrap="square" lIns="0" tIns="0" rIns="0" bIns="0" rtlCol="0" anchor="ctr"/>
          <a:lstStyle/>
          <a:p>
            <a:pPr algn="ctr" indent="0" marL="0">
              <a:buNone/>
            </a:pPr>
            <a:r>
              <a:rPr lang="en-US" sz="1100" dirty="0">
                <a:solidFill>
                  <a:srgbClr val="1B2A3A"/>
                </a:solidFill>
                <a:latin typeface="Calibri" pitchFamily="34" charset="0"/>
                <a:ea typeface="Calibri" pitchFamily="34" charset="-122"/>
                <a:cs typeface="Calibri" pitchFamily="34" charset="-120"/>
              </a:rPr>
              <a:t>Completed: Approved</a:t>
            </a:r>
            <a:endParaRPr lang="en-US" sz="1100" dirty="0"/>
          </a:p>
        </p:txBody>
      </p:sp>
      <p:sp>
        <p:nvSpPr>
          <p:cNvPr id="44" name="Text 42"/>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Every step is written to the audit log; dashed arrows are replies.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we stand</a:t>
            </a:r>
            <a:endParaRPr lang="en-US" sz="34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Proven locally, with the limits stated</a:t>
            </a:r>
            <a:endParaRPr lang="en-US" sz="1600" dirty="0"/>
          </a:p>
        </p:txBody>
      </p:sp>
      <p:sp>
        <p:nvSpPr>
          <p:cNvPr id="4" name="proven card"/>
          <p:cNvSpPr/>
          <p:nvPr/>
        </p:nvSpPr>
        <p:spPr>
          <a:xfrm>
            <a:off x="548640" y="1645920"/>
            <a:ext cx="5394960" cy="4297680"/>
          </a:xfrm>
          <a:prstGeom prst="roundRect">
            <a:avLst>
              <a:gd name="adj" fmla="val 1702"/>
            </a:avLst>
          </a:prstGeom>
          <a:solidFill>
            <a:srgbClr val="1E2E52"/>
          </a:solidFill>
          <a:ln w="12700">
            <a:solidFill>
              <a:srgbClr val="1E2E52"/>
            </a:solidFill>
            <a:prstDash val="solid"/>
          </a:ln>
        </p:spPr>
      </p:sp>
      <p:sp>
        <p:nvSpPr>
          <p:cNvPr id="5" name="Text 3"/>
          <p:cNvSpPr txBox="1"/>
          <p:nvPr/>
        </p:nvSpPr>
        <p:spPr>
          <a:xfrm>
            <a:off x="777240" y="1737360"/>
            <a:ext cx="4937760" cy="457200"/>
          </a:xfrm>
          <a:prstGeom prst="rect">
            <a:avLst/>
          </a:prstGeom>
          <a:noFill/>
          <a:ln/>
        </p:spPr>
        <p:txBody>
          <a:bodyPr wrap="square" lIns="0" tIns="0" rIns="0" bIns="0" rtlCol="0" anchor="ctr"/>
          <a:lstStyle/>
          <a:p>
            <a:pPr indent="0" marL="0">
              <a:buNone/>
            </a:pPr>
            <a:r>
              <a:rPr lang="en-US" sz="2000" b="1" dirty="0">
                <a:solidFill>
                  <a:srgbClr val="F2A541"/>
                </a:solidFill>
                <a:latin typeface="Cambria" pitchFamily="34" charset="0"/>
                <a:ea typeface="Cambria" pitchFamily="34" charset="-122"/>
                <a:cs typeface="Cambria" pitchFamily="34" charset="-120"/>
              </a:rPr>
              <a:t>Proven</a:t>
            </a:r>
            <a:endParaRPr lang="en-US" sz="2000" dirty="0"/>
          </a:p>
        </p:txBody>
      </p:sp>
      <p:sp>
        <p:nvSpPr>
          <p:cNvPr id="6" name="Text 4"/>
          <p:cNvSpPr txBox="1"/>
          <p:nvPr/>
        </p:nvSpPr>
        <p:spPr>
          <a:xfrm>
            <a:off x="777240" y="2286000"/>
            <a:ext cx="4937760" cy="34747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Pega XPDL and Camunda flows run end to end in a real browser</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Blueprint PDF pipeline works on a synthetic sample</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Correct across replicas; no lost work when one is killed</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Security, audit and release control built in</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One tagged version: r0-2026-10-26</a:t>
            </a:r>
            <a:endParaRPr lang="en-US" sz="1800" dirty="0"/>
          </a:p>
        </p:txBody>
      </p:sp>
      <p:sp>
        <p:nvSpPr>
          <p:cNvPr id="7" name="limits card"/>
          <p:cNvSpPr/>
          <p:nvPr/>
        </p:nvSpPr>
        <p:spPr>
          <a:xfrm>
            <a:off x="6217920" y="1645920"/>
            <a:ext cx="5394960" cy="4297680"/>
          </a:xfrm>
          <a:prstGeom prst="roundRect">
            <a:avLst>
              <a:gd name="adj" fmla="val 1702"/>
            </a:avLst>
          </a:prstGeom>
          <a:solidFill>
            <a:srgbClr val="1E2E52"/>
          </a:solidFill>
          <a:ln w="12700">
            <a:solidFill>
              <a:srgbClr val="1E2E52"/>
            </a:solidFill>
            <a:prstDash val="solid"/>
          </a:ln>
        </p:spPr>
      </p:sp>
      <p:sp>
        <p:nvSpPr>
          <p:cNvPr id="8" name="Text 6"/>
          <p:cNvSpPr txBox="1"/>
          <p:nvPr/>
        </p:nvSpPr>
        <p:spPr>
          <a:xfrm>
            <a:off x="6446520" y="1737360"/>
            <a:ext cx="4937760" cy="457200"/>
          </a:xfrm>
          <a:prstGeom prst="rect">
            <a:avLst/>
          </a:prstGeom>
          <a:noFill/>
          <a:ln/>
        </p:spPr>
        <p:txBody>
          <a:bodyPr wrap="square" lIns="0" tIns="0" rIns="0" bIns="0" rtlCol="0" anchor="ctr"/>
          <a:lstStyle/>
          <a:p>
            <a:pPr indent="0" marL="0">
              <a:buNone/>
            </a:pPr>
            <a:r>
              <a:rPr lang="en-US" sz="2000" b="1" dirty="0">
                <a:solidFill>
                  <a:srgbClr val="F2A541"/>
                </a:solidFill>
                <a:latin typeface="Cambria" pitchFamily="34" charset="0"/>
                <a:ea typeface="Cambria" pitchFamily="34" charset="-122"/>
                <a:cs typeface="Cambria" pitchFamily="34" charset="-120"/>
              </a:rPr>
              <a:t>Not yet</a:t>
            </a:r>
            <a:endParaRPr lang="en-US" sz="2000" dirty="0"/>
          </a:p>
        </p:txBody>
      </p:sp>
      <p:sp>
        <p:nvSpPr>
          <p:cNvPr id="9" name="Text 7"/>
          <p:cNvSpPr txBox="1"/>
          <p:nvPr/>
        </p:nvSpPr>
        <p:spPr>
          <a:xfrm>
            <a:off x="6446520" y="2286000"/>
            <a:ext cx="4937760" cy="34747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Real Pega Blueprint PDFs: needs a sample from you</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Full CMMN case management and the general UI designer are in progress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Throughput is database-bound; three bottlenecks documented</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Adapters and agent tools use stub transports only</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No production deployment or customer pilot yet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Orqix workflow platform</dc:title>
  <dc:subject>PptxGenJS Presentation</dc:subject>
  <dc:creator>Orqix</dc:creator>
  <cp:lastModifiedBy>Orqix</cp:lastModifiedBy>
  <cp:revision>1</cp:revision>
  <dcterms:created xsi:type="dcterms:W3CDTF">2026-10-26T15:49:52Z</dcterms:created>
  <dcterms:modified xsi:type="dcterms:W3CDTF">2026-10-26T15:49:52Z</dcterms:modified>
</cp:coreProperties>
</file>